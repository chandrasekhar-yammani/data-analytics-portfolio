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produced (millions)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Standard Block PP</c:v>
                  </c:pt>
                  <c:pt idx="1">
                    <c:v>LLDPE</c:v>
                  </c:pt>
                  <c:pt idx="2">
                    <c:v>LDPE</c:v>
                  </c:pt>
                  <c:pt idx="3">
                    <c:v>Keptial</c:v>
                  </c:pt>
                  <c:pt idx="4">
                    <c:v>Novaduran PBT</c:v>
                  </c:pt>
                  <c:pt idx="5">
                    <c:v>LLDPE 6301XR</c:v>
                  </c:pt>
                  <c:pt idx="6">
                    <c:v>Random PP</c:v>
                  </c:pt>
                  <c:pt idx="7">
                    <c:v>PBT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172.6</c:v>
                </c:pt>
                <c:pt idx="1">
                  <c:v>52.3</c:v>
                </c:pt>
                <c:pt idx="2">
                  <c:v>48.4</c:v>
                </c:pt>
                <c:pt idx="3">
                  <c:v>20.1</c:v>
                </c:pt>
                <c:pt idx="4">
                  <c:v>11.4</c:v>
                </c:pt>
                <c:pt idx="5">
                  <c:v>9.1</c:v>
                </c:pt>
                <c:pt idx="6">
                  <c:v>5.8</c:v>
                </c:pt>
                <c:pt idx="7">
                  <c:v>3.2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Material used (tonnes)</c:v>
                </c:pt>
              </c:strCache>
            </c:strRef>
          </c:tx>
          <c:spPr>
            <a:solidFill>
              <a:srgbClr val="2C6E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Standard Block PP</c:v>
                  </c:pt>
                  <c:pt idx="1">
                    <c:v>LLDPE</c:v>
                  </c:pt>
                  <c:pt idx="2">
                    <c:v>LDPE</c:v>
                  </c:pt>
                  <c:pt idx="3">
                    <c:v>Keptial</c:v>
                  </c:pt>
                  <c:pt idx="4">
                    <c:v>Novaduran PBT</c:v>
                  </c:pt>
                  <c:pt idx="5">
                    <c:v>LLDPE 6301XR</c:v>
                  </c:pt>
                  <c:pt idx="6">
                    <c:v>Random PP</c:v>
                  </c:pt>
                  <c:pt idx="7">
                    <c:v>PBT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582.7</c:v>
                </c:pt>
                <c:pt idx="1">
                  <c:v>54.3</c:v>
                </c:pt>
                <c:pt idx="2">
                  <c:v>5.7</c:v>
                </c:pt>
                <c:pt idx="3">
                  <c:v>28.9</c:v>
                </c:pt>
                <c:pt idx="4">
                  <c:v>2.8</c:v>
                </c:pt>
                <c:pt idx="5">
                  <c:v>2.9</c:v>
                </c:pt>
                <c:pt idx="6">
                  <c:v>24.2</c:v>
                </c:pt>
                <c:pt idx="7">
                  <c:v>4.6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A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OEE %</c:v>
                </c:pt>
              </c:strCache>
            </c:strRef>
          </c:tx>
          <c:spPr>
            <a:solidFill>
              <a:srgbClr val="D97706"/>
            </a:solidFill>
            <a:ln w="3175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Jan 05</c:v>
                  </c:pt>
                  <c:pt idx="1">
                    <c:v>Jan 12</c:v>
                  </c:pt>
                  <c:pt idx="2">
                    <c:v>Jan 19</c:v>
                  </c:pt>
                  <c:pt idx="3">
                    <c:v>Jan 26</c:v>
                  </c:pt>
                  <c:pt idx="4">
                    <c:v>Feb 02</c:v>
                  </c:pt>
                  <c:pt idx="5">
                    <c:v>Feb 09</c:v>
                  </c:pt>
                  <c:pt idx="6">
                    <c:v>Feb 16</c:v>
                  </c:pt>
                  <c:pt idx="7">
                    <c:v>Feb 23</c:v>
                  </c:pt>
                  <c:pt idx="8">
                    <c:v>Mar 02</c:v>
                  </c:pt>
                  <c:pt idx="9">
                    <c:v>Mar 09</c:v>
                  </c:pt>
                  <c:pt idx="10">
                    <c:v>Mar 16</c:v>
                  </c:pt>
                  <c:pt idx="11">
                    <c:v>Mar 23</c:v>
                  </c:pt>
                  <c:pt idx="12">
                    <c:v>Mar 30</c:v>
                  </c:pt>
                  <c:pt idx="13">
                    <c:v>Apr 06</c:v>
                  </c:pt>
                  <c:pt idx="14">
                    <c:v>Apr 13</c:v>
                  </c:pt>
                  <c:pt idx="15">
                    <c:v>Apr 20</c:v>
                  </c:pt>
                  <c:pt idx="16">
                    <c:v>Apr 27</c:v>
                  </c:pt>
                  <c:pt idx="17">
                    <c:v>May 04</c:v>
                  </c:pt>
                  <c:pt idx="18">
                    <c:v>May 11</c:v>
                  </c:pt>
                  <c:pt idx="19">
                    <c:v>May 18</c:v>
                  </c:pt>
                  <c:pt idx="20">
                    <c:v>May 25</c:v>
                  </c:pt>
                  <c:pt idx="21">
                    <c:v>Jun 01</c:v>
                  </c:pt>
                  <c:pt idx="22">
                    <c:v>Jun 08</c:v>
                  </c:pt>
                  <c:pt idx="23">
                    <c:v>Jun 15</c:v>
                  </c:pt>
                  <c:pt idx="24">
                    <c:v>Jun 22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38.9</c:v>
                </c:pt>
                <c:pt idx="1">
                  <c:v>43.5</c:v>
                </c:pt>
                <c:pt idx="2">
                  <c:v>49</c:v>
                </c:pt>
                <c:pt idx="3">
                  <c:v>47.9</c:v>
                </c:pt>
                <c:pt idx="4">
                  <c:v>44.4</c:v>
                </c:pt>
                <c:pt idx="5">
                  <c:v>48.8</c:v>
                </c:pt>
                <c:pt idx="6">
                  <c:v>45.1</c:v>
                </c:pt>
                <c:pt idx="7">
                  <c:v>43</c:v>
                </c:pt>
                <c:pt idx="8">
                  <c:v>44</c:v>
                </c:pt>
                <c:pt idx="9">
                  <c:v>44.6</c:v>
                </c:pt>
                <c:pt idx="10">
                  <c:v>43.4</c:v>
                </c:pt>
                <c:pt idx="11">
                  <c:v>44.1</c:v>
                </c:pt>
                <c:pt idx="12">
                  <c:v>26</c:v>
                </c:pt>
                <c:pt idx="13">
                  <c:v>34.3</c:v>
                </c:pt>
                <c:pt idx="14">
                  <c:v>46.3</c:v>
                </c:pt>
                <c:pt idx="15">
                  <c:v>41.8</c:v>
                </c:pt>
                <c:pt idx="16">
                  <c:v>44.2</c:v>
                </c:pt>
                <c:pt idx="17">
                  <c:v>46.8</c:v>
                </c:pt>
                <c:pt idx="18">
                  <c:v>55.9</c:v>
                </c:pt>
                <c:pt idx="19">
                  <c:v>48.5</c:v>
                </c:pt>
                <c:pt idx="20">
                  <c:v>35.7</c:v>
                </c:pt>
                <c:pt idx="21">
                  <c:v>43.3</c:v>
                </c:pt>
                <c:pt idx="22">
                  <c:v>37.8</c:v>
                </c:pt>
                <c:pt idx="23">
                  <c:v>45</c:v>
                </c:pt>
                <c:pt idx="24">
                  <c:v>38.8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A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E5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Avg OEE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shifts ≥90% efficiency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228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MC 42</c:v>
                  </c:pt>
                  <c:pt idx="1">
                    <c:v>MC 64</c:v>
                  </c:pt>
                  <c:pt idx="2">
                    <c:v>MC 63</c:v>
                  </c:pt>
                  <c:pt idx="3">
                    <c:v>MC 33</c:v>
                  </c:pt>
                  <c:pt idx="4">
                    <c:v>MC 57</c:v>
                  </c:pt>
                  <c:pt idx="5">
                    <c:v>MC 26</c:v>
                  </c:pt>
                  <c:pt idx="6">
                    <c:v>MC 38</c:v>
                  </c:pt>
                  <c:pt idx="7">
                    <c:v>MC 7</c:v>
                  </c:pt>
                  <c:pt idx="8">
                    <c:v>MC 5</c:v>
                  </c:pt>
                  <c:pt idx="9">
                    <c:v>MC 31</c:v>
                  </c:pt>
                  <c:pt idx="10">
                    <c:v>MC 4</c:v>
                  </c:pt>
                  <c:pt idx="11">
                    <c:v>MC 40</c:v>
                  </c:pt>
                  <c:pt idx="12">
                    <c:v>MC 56</c:v>
                  </c:pt>
                  <c:pt idx="13">
                    <c:v>MC 21</c:v>
                  </c:pt>
                  <c:pt idx="14">
                    <c:v>MC 1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63.4</c:v>
                </c:pt>
                <c:pt idx="1">
                  <c:v>63.4</c:v>
                </c:pt>
                <c:pt idx="2">
                  <c:v>65.1</c:v>
                </c:pt>
                <c:pt idx="3">
                  <c:v>66.6</c:v>
                </c:pt>
                <c:pt idx="4">
                  <c:v>67.3</c:v>
                </c:pt>
                <c:pt idx="5">
                  <c:v>67.4</c:v>
                </c:pt>
                <c:pt idx="6">
                  <c:v>67.5</c:v>
                </c:pt>
                <c:pt idx="7">
                  <c:v>67.7</c:v>
                </c:pt>
                <c:pt idx="8">
                  <c:v>69.5</c:v>
                </c:pt>
                <c:pt idx="9">
                  <c:v>72.3</c:v>
                </c:pt>
                <c:pt idx="10">
                  <c:v>74.2</c:v>
                </c:pt>
                <c:pt idx="11">
                  <c:v>75</c:v>
                </c:pt>
                <c:pt idx="12">
                  <c:v>75</c:v>
                </c:pt>
                <c:pt idx="13">
                  <c:v>78</c:v>
                </c:pt>
                <c:pt idx="14">
                  <c:v>86.6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228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0D5D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5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Downtime %</c:v>
                </c:pt>
              </c:strCache>
            </c:strRef>
          </c:tx>
          <c:spPr>
            <a:solidFill>
              <a:srgbClr val="3E7A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228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MC1</c:v>
                  </c:pt>
                  <c:pt idx="1">
                    <c:v>MC21</c:v>
                  </c:pt>
                  <c:pt idx="2">
                    <c:v>MC56</c:v>
                  </c:pt>
                  <c:pt idx="3">
                    <c:v>MC63</c:v>
                  </c:pt>
                  <c:pt idx="4">
                    <c:v>MC40</c:v>
                  </c:pt>
                  <c:pt idx="5">
                    <c:v>MC4</c:v>
                  </c:pt>
                  <c:pt idx="6">
                    <c:v>MC57</c:v>
                  </c:pt>
                  <c:pt idx="7">
                    <c:v>MC31</c:v>
                  </c:pt>
                  <c:pt idx="8">
                    <c:v>MC5</c:v>
                  </c:pt>
                  <c:pt idx="9">
                    <c:v>MC24</c:v>
                  </c:pt>
                  <c:pt idx="10">
                    <c:v>MC7</c:v>
                  </c:pt>
                  <c:pt idx="11">
                    <c:v>MC26</c:v>
                  </c:pt>
                  <c:pt idx="12">
                    <c:v>MC58</c:v>
                  </c:pt>
                  <c:pt idx="13">
                    <c:v>MC64</c:v>
                  </c:pt>
                  <c:pt idx="14">
                    <c:v>MC38</c:v>
                  </c:pt>
                  <c:pt idx="15">
                    <c:v>MC33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11.11</c:v>
                </c:pt>
                <c:pt idx="1">
                  <c:v>15.21</c:v>
                </c:pt>
                <c:pt idx="2">
                  <c:v>17.05</c:v>
                </c:pt>
                <c:pt idx="3">
                  <c:v>19.04</c:v>
                </c:pt>
                <c:pt idx="4">
                  <c:v>19.72</c:v>
                </c:pt>
                <c:pt idx="5">
                  <c:v>19.99</c:v>
                </c:pt>
                <c:pt idx="6">
                  <c:v>23.06</c:v>
                </c:pt>
                <c:pt idx="7">
                  <c:v>24.4</c:v>
                </c:pt>
                <c:pt idx="8">
                  <c:v>25.06</c:v>
                </c:pt>
                <c:pt idx="9">
                  <c:v>25.07</c:v>
                </c:pt>
                <c:pt idx="10">
                  <c:v>25.28</c:v>
                </c:pt>
                <c:pt idx="11">
                  <c:v>25.98</c:v>
                </c:pt>
                <c:pt idx="12">
                  <c:v>26.59</c:v>
                </c:pt>
                <c:pt idx="13">
                  <c:v>27.67</c:v>
                </c:pt>
                <c:pt idx="14">
                  <c:v>28.98</c:v>
                </c:pt>
                <c:pt idx="15">
                  <c:v>29.26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228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12700" cap="flat">
              <a:solidFill>
                <a:srgbClr val="E5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Stopped hours</c:v>
                </c:pt>
              </c:strCache>
            </c:strRef>
          </c:tx>
          <c:spPr>
            <a:solidFill>
              <a:srgbClr val="1B3A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MC65</c:v>
                  </c:pt>
                  <c:pt idx="1">
                    <c:v>MC12</c:v>
                  </c:pt>
                  <c:pt idx="2">
                    <c:v>MC48</c:v>
                  </c:pt>
                  <c:pt idx="3">
                    <c:v>MC55</c:v>
                  </c:pt>
                  <c:pt idx="4">
                    <c:v>MC25</c:v>
                  </c:pt>
                  <c:pt idx="5">
                    <c:v>MC60</c:v>
                  </c:pt>
                  <c:pt idx="6">
                    <c:v>MC19</c:v>
                  </c:pt>
                  <c:pt idx="7">
                    <c:v>MC43</c:v>
                  </c:pt>
                  <c:pt idx="8">
                    <c:v>MC11</c:v>
                  </c:pt>
                  <c:pt idx="9">
                    <c:v>MC36</c:v>
                  </c:pt>
                  <c:pt idx="10">
                    <c:v>MC44</c:v>
                  </c:pt>
                  <c:pt idx="11">
                    <c:v>MC61</c:v>
                  </c:pt>
                  <c:pt idx="12">
                    <c:v>MC6</c:v>
                  </c:pt>
                  <c:pt idx="13">
                    <c:v>MC32</c:v>
                  </c:pt>
                  <c:pt idx="14">
                    <c:v>MC13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4160</c:v>
                </c:pt>
                <c:pt idx="1">
                  <c:v>4042</c:v>
                </c:pt>
                <c:pt idx="2">
                  <c:v>3963</c:v>
                </c:pt>
                <c:pt idx="3">
                  <c:v>3940</c:v>
                </c:pt>
                <c:pt idx="4">
                  <c:v>3887</c:v>
                </c:pt>
                <c:pt idx="5">
                  <c:v>3874</c:v>
                </c:pt>
                <c:pt idx="6">
                  <c:v>3774</c:v>
                </c:pt>
                <c:pt idx="7">
                  <c:v>3566</c:v>
                </c:pt>
                <c:pt idx="8">
                  <c:v>3515</c:v>
                </c:pt>
                <c:pt idx="9">
                  <c:v>3470</c:v>
                </c:pt>
                <c:pt idx="10">
                  <c:v>2851</c:v>
                </c:pt>
                <c:pt idx="11">
                  <c:v>2800</c:v>
                </c:pt>
                <c:pt idx="12">
                  <c:v>2692</c:v>
                </c:pt>
                <c:pt idx="13">
                  <c:v>2605</c:v>
                </c:pt>
                <c:pt idx="14">
                  <c:v>2536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% of all downtime</c:v>
                </c:pt>
              </c:strCache>
            </c:strRef>
          </c:tx>
          <c:spPr>
            <a:solidFill>
              <a:srgbClr val="1B3A5A"/>
            </a:solidFill>
            <a:ln w="25400" cap="flat">
              <a:solidFill>
                <a:srgbClr val="1B3A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3A5A"/>
              </a:solidFill>
              <a:ln w="9525" cap="flat">
                <a:solidFill>
                  <a:srgbClr val="1B3A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MC65</c:v>
                  </c:pt>
                  <c:pt idx="1">
                    <c:v>MC12</c:v>
                  </c:pt>
                  <c:pt idx="2">
                    <c:v>MC48</c:v>
                  </c:pt>
                  <c:pt idx="3">
                    <c:v>MC55</c:v>
                  </c:pt>
                  <c:pt idx="4">
                    <c:v>MC25</c:v>
                  </c:pt>
                  <c:pt idx="5">
                    <c:v>MC60</c:v>
                  </c:pt>
                  <c:pt idx="6">
                    <c:v>MC19</c:v>
                  </c:pt>
                  <c:pt idx="7">
                    <c:v>MC43</c:v>
                  </c:pt>
                  <c:pt idx="8">
                    <c:v>MC11</c:v>
                  </c:pt>
                  <c:pt idx="9">
                    <c:v>MC36</c:v>
                  </c:pt>
                  <c:pt idx="10">
                    <c:v>MC44</c:v>
                  </c:pt>
                  <c:pt idx="11">
                    <c:v>MC61</c:v>
                  </c:pt>
                  <c:pt idx="12">
                    <c:v>MC6</c:v>
                  </c:pt>
                  <c:pt idx="13">
                    <c:v>MC32</c:v>
                  </c:pt>
                  <c:pt idx="14">
                    <c:v>MC13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3.3</c:v>
                </c:pt>
                <c:pt idx="1">
                  <c:v>6.5</c:v>
                </c:pt>
                <c:pt idx="2">
                  <c:v>9.6</c:v>
                </c:pt>
                <c:pt idx="3">
                  <c:v>12.7</c:v>
                </c:pt>
                <c:pt idx="4">
                  <c:v>15.7</c:v>
                </c:pt>
                <c:pt idx="5">
                  <c:v>18.8</c:v>
                </c:pt>
                <c:pt idx="6">
                  <c:v>21.7</c:v>
                </c:pt>
                <c:pt idx="7">
                  <c:v>24.5</c:v>
                </c:pt>
                <c:pt idx="8">
                  <c:v>27.3</c:v>
                </c:pt>
                <c:pt idx="9">
                  <c:v>30</c:v>
                </c:pt>
                <c:pt idx="10">
                  <c:v>32.3</c:v>
                </c:pt>
                <c:pt idx="11">
                  <c:v>34.5</c:v>
                </c:pt>
                <c:pt idx="12">
                  <c:v>36.6</c:v>
                </c:pt>
                <c:pt idx="13">
                  <c:v>38.7</c:v>
                </c:pt>
                <c:pt idx="14">
                  <c:v>40.7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Stopped hours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100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Cumulative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28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12161520" cy="2697480"/>
          </a:xfrm>
          <a:prstGeom prst="rect">
            <a:avLst/>
          </a:prstGeom>
          <a:solidFill>
            <a:srgbClr val="1B3A5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MOULDING DIVISION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Duo Mentoring Programme  •  Mid-Programme Review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Chandra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Business Analytics, Queen's University Belfast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injection moulding machines  •  22,520 machine-shifts  •  January –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Review Covers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full analytical pass on the Moulding production data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4173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0078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600200" y="171907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of production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08483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output, weight, and material consumption across the period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49240" cy="14173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70078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269480" y="171907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OEE correctly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69480" y="208483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headline figure understates machine performance — and what the right number 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91256"/>
            <a:ext cx="5349240" cy="14173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375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600200" y="335584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over time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3721608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trend and one significant anomaly needing explanation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191256"/>
            <a:ext cx="5349240" cy="14173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33375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7269480" y="335584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reliability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69480" y="3721608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machines run consistently, and how wide the spread really 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828032"/>
            <a:ext cx="5349240" cy="14173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974336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1600200" y="4992624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analysis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5358384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lost time sits, and whether it is concentrated or systemic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4828032"/>
            <a:ext cx="5349240" cy="14173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4974336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7269480" y="4992624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next steps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69480" y="5358384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commercially, and what still needs answering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Moulding Division — Performance Analysis  |  Data Duo Mentoring, QUB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Production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Moulding division output, January – June 2026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19659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327.7M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produced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64 machines and 22,520 machine-shifts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611880" cy="19659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18288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718 t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17720" y="26060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consumed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9260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718,226 kg of polymer across 13 material types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0" y="1554480"/>
            <a:ext cx="3611880" cy="19659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8458200" y="18288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141k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458200" y="26060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running hours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58200" y="29260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Alongside 127k hours recorded as stopped time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1064240" cy="2286000"/>
          </a:xfrm>
          <a:prstGeom prst="rect">
            <a:avLst/>
          </a:prstGeom>
          <a:solidFill>
            <a:srgbClr val="1B3A5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0233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that in context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389120"/>
            <a:ext cx="10332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part weight is just 2.2 grams — this is a high-volume, low-mass operation where small efficiency gains compound quickly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highest-output tool (Mould 9510, Valve 1st &amp; 2nd) produced 41.6 million units on its own — 13% of total output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63% of output carries a colour additive; the remaining 37% is natural material with no colourant cost attached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Moulding Division — Performance Analysis  |  Data Duo Mentoring, QUB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OEE Correctly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figure and the operational figure answer two different questions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2286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42.2%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across ALL recorded shifts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761488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the 41% of machine-shifts where the machine did not run at all. These record an OEE of zero and pull the average down.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349240" cy="2286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E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71.6%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537960" y="24505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on shifts where machines actually ran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2761488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 measure of how well machines perform when they are scheduled and producing. Downtime on these shifts is 10.5%, not 47%.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64240" cy="2057400"/>
          </a:xfrm>
          <a:prstGeom prst="rect">
            <a:avLst/>
          </a:prstGeom>
          <a:solidFill>
            <a:srgbClr val="1B3A5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22452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distinction matters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10332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9,235 of 22,520 machine-shifts (41%) recorded zero running time — these are idle or unscheduled shifts, not underperforming ones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42.2% is a capacity utilisation signal: how much of the available calendar the plant converts into production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71.6% is an operational performance signal: how effectively machines run once started — the number to use for machine comparisons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valid, but they should never be presented interchangeably. All machine rankings in this deck use like-for-like comparisons.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Moulding Division — Performance Analysis  |  Data Duo Mentoring, QUB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Consumption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718 tonnes go — and why unit share and weight share tell different stories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08760"/>
          <a:ext cx="71323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508760"/>
            <a:ext cx="3749040" cy="3977640"/>
          </a:xfrm>
          <a:prstGeom prst="rect">
            <a:avLst/>
          </a:prstGeom>
          <a:solidFill>
            <a:srgbClr val="1B3A5A"/>
          </a:solidFill>
          <a:ln/>
        </p:spPr>
      </p:sp>
      <p:sp>
        <p:nvSpPr>
          <p:cNvPr id="6" name="Text 3"/>
          <p:cNvSpPr/>
          <p:nvPr/>
        </p:nvSpPr>
        <p:spPr>
          <a:xfrm>
            <a:off x="8138160" y="17190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stands out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138160" y="2084832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Block PP dominates both: 53% of units but 81% of material weight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LDPE is the opposite — 15% of units but under 1% of weight, at 0.12g per part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PP and PCR Material are the heaviest parts at ~4.1g each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weight varies 35-fold across materials, so unit counts alone are a poor proxy for material cost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56235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implication: material cost tracking should be weight-based, not unit-based. A 1% waste reduction on Standard Block PP is worth roughly as much as eliminating LDPE waste entirely.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Moulding Division — Performance Analysis  |  Data Duo Mentoring, QUB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Over Time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average OEE across all 64 moulding machines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110642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74920"/>
            <a:ext cx="5349240" cy="12801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212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— week of 30 March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22960" y="5504688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fell to 26.0%, the lowest week of the period, recovering fully within two weeks. Needs a direct explanation before this period is used in any baseline.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63640" y="5074920"/>
            <a:ext cx="5349240" cy="12801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Text 6"/>
          <p:cNvSpPr/>
          <p:nvPr/>
        </p:nvSpPr>
        <p:spPr>
          <a:xfrm>
            <a:off x="6537960" y="5212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Otherwise: flat, not improving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537960" y="5504688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Excluding the dip, weekly OEE oscillates between 35% and 56% with no upward trend across six months. Performance is stable but stagnant.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Moulding Division — Performance Analysis  |  Data Duo Mentoring, QUB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Reliability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shifts sustaining ≥90% running efficiency — top 15 machines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08760"/>
          <a:ext cx="70408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08760"/>
            <a:ext cx="3840480" cy="4663440"/>
          </a:xfrm>
          <a:prstGeom prst="rect">
            <a:avLst/>
          </a:prstGeom>
          <a:solidFill>
            <a:srgbClr val="1B3A5A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7190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chart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46720" y="2084832"/>
            <a:ext cx="32918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1 leads the plant, holding ≥90% efficiency on 87% of its shifts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 from 1st to 15th is wide — 87% down to 63% — a real, consistent difference rather than noise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measures consistency, not peak speed: a machine can post a high one-off OEE and still be unreliable week to week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performers are the natural place to look for practices worth replicating elsewhere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Moulding Division — Performance Analysis  |  Data Duo Mentoring, QUB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Downtime: The Best-Performing Machines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 time as a share of total tracked time — lowest 16 machines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63040"/>
          <a:ext cx="11109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66360"/>
            <a:ext cx="11064240" cy="11887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3035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best and worst is enormous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68680" y="55961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MC1 loses 11% of its tracked time to stoppages. At the other end of the fleet, ten machines lose over 83% — with several above 90%. That is not a performance gap; it suggests those machines are largely idle or unscheduled rather than running badly, and is worth confirming with the business.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Moulding Division — Performance Analysis  |  Data Duo Mentoring, QUB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Downtime Concentrated, or Systemic?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share of total stopped hours, machines ranked highest to lowest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110642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11064240" cy="10058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468112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downtime does not follow the classic 80/20 pattern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68680" y="5760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takes 41 of the 64 machines — 64% of the fleet — to account for 80% of total stopped hours. The top 15 machines shown here reach only 41%. Targeting a handful of worst offenders would leave the majority of lost time untouched; the causes are likely scheduling and process-wide rather than machine-specific.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Moulding Division — Performance Analysis  |  Data Duo Mentoring, QUB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Further Checks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performance, and how concentrated output is across tooling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21488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vs Night shift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OEE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2057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41.8%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91840" y="2606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OEE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9718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0.9 point difference across six months — effectively no shift effect. Output is also near-identical (166M day vs 161M night).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508760"/>
            <a:ext cx="5349240" cy="21488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concentration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2057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moulds = 54% of output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583680" y="25603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downtime, production IS concentrated. Mould 9510 (Valve 1st &amp; 2nd) alone produced 41.6M units — 13% of everything made.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64240" cy="2194560"/>
          </a:xfrm>
          <a:prstGeom prst="rect">
            <a:avLst/>
          </a:prstGeom>
          <a:solidFill>
            <a:srgbClr val="1B3A5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9651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two results matter together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43484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shift effect means staffing patterns and shift-level supervision are not a driver of the OEE gap — that removes one common hypothesis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output means a small number of tools carry the commercial load, so reliability on those specific moulds matters disproportionately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effort is better spent protecting uptime on the highest-volume tooling than on evening out performance between shifts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Moulding Division — Performance Analysis  |  Data Duo Mentoring, QUB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28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349240" cy="2331720"/>
          </a:xfrm>
          <a:prstGeom prst="rect">
            <a:avLst/>
          </a:prstGeom>
          <a:solidFill>
            <a:srgbClr val="1B3A5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89888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OEE understates the plant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9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42.2% includes 41% idle machine-shifts. On shifts where machines actually ran, OEE is 71.6% and downtime is 10.5%. The real issue is utilisation of available capacity, not machine capability.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49240" cy="2331720"/>
          </a:xfrm>
          <a:prstGeom prst="rect">
            <a:avLst/>
          </a:prstGeom>
          <a:solidFill>
            <a:srgbClr val="1B3A5A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389888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is systemic, not a few bad machines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2240" y="1993392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9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of 64 machines are needed to reach 80% of total stopped hours. A targeted fix on the worst offenders would leave most lost time untouched.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21608"/>
            <a:ext cx="5349240" cy="2331720"/>
          </a:xfrm>
          <a:prstGeom prst="rect">
            <a:avLst/>
          </a:prstGeom>
          <a:solidFill>
            <a:srgbClr val="1B3A5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22776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cost sits almost entirely in one polymer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9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Block PP is 53% of units but 81% of material weight. Any waste or scrap initiative should be weighted by mass, not part count.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721608"/>
            <a:ext cx="5349240" cy="2331720"/>
          </a:xfrm>
          <a:prstGeom prst="rect">
            <a:avLst/>
          </a:prstGeom>
          <a:solidFill>
            <a:srgbClr val="1B3A5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922776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is not a factor — tooling concentration is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2240" y="452628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9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and night differ by under one point. But 10 moulds carry 54% of output, so uptime on those specific tools is where commercial risk concentrates.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evidence points — stated as options for the business, not conclusions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0972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55648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618488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why 41% of machine-shifts are idle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938528"/>
            <a:ext cx="9784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factor explains most of the gap between the 42% headline OEE and the 72% operational figure. Is it order volume, scheduling, changeover capacity, or labour availability?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88336"/>
            <a:ext cx="11064240" cy="10972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962656"/>
            <a:ext cx="548640" cy="548640"/>
          </a:xfrm>
          <a:prstGeom prst="ellipse">
            <a:avLst/>
          </a:prstGeom>
          <a:solidFill>
            <a:srgbClr val="2C6E7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3580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825496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top reliability performers, not just the worst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3145536"/>
            <a:ext cx="9784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MC1, MC21 and MC56 sustain high efficiency on 75–87% of shifts. Understanding what differs about them is likely cheaper than diagnosing 41 underperformers individually.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95344"/>
            <a:ext cx="11064240" cy="10972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169664"/>
            <a:ext cx="548640" cy="548640"/>
          </a:xfrm>
          <a:prstGeom prst="ellipse">
            <a:avLst/>
          </a:prstGeom>
          <a:solidFill>
            <a:srgbClr val="3E7A4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42816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032504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waste and scrap tracking by material mass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4352544"/>
            <a:ext cx="9784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Block PP carries 81% of material weight. A unit-based waste metric will systematically understate where the money actually leaks.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102352"/>
            <a:ext cx="11064240" cy="10972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376672"/>
            <a:ext cx="548640" cy="548640"/>
          </a:xfrm>
          <a:prstGeom prst="ellipse">
            <a:avLst/>
          </a:prstGeom>
          <a:solidFill>
            <a:srgbClr val="1B3A5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449824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52395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uptime on the ten highest-volume moulds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5559552"/>
            <a:ext cx="9784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carry 54% of total output. Prioritising preventative maintenance and tooling spares here has a disproportionate commercial return.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Moulding Division — Performance Analysis  |  Data Duo Mentoring, QUB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 &amp; 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confirmed, what is assumed, and what still needs an answer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with the business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is derived from standard vs actual cycle time, cavity efficiency and running efficiency — values above 100% are expected, not errors</a:t>
            </a:r>
            <a:endParaRPr lang="en-US" sz="115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 To Run" is unreliable and has been excluded from all analysis</a:t>
            </a:r>
            <a:endParaRPr lang="en-US" sz="115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colour values mean natural material with no colourant — not missing data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986784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caused the OEE drop in the week of 30 March?</a:t>
            </a:r>
            <a:endParaRPr lang="en-US" sz="115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41% idle machine-shifts planned (no orders) or unplanned?</a:t>
            </a:r>
            <a:endParaRPr lang="en-US" sz="115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MC66 recorded 35 shifts with zero output — is this a new, retired, or mis-recorded machine?</a:t>
            </a:r>
            <a:endParaRPr lang="en-US" sz="115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machines with near-total downtime be treated as inactive rather than underperforming?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481328"/>
            <a:ext cx="5349240" cy="4526280"/>
          </a:xfrm>
          <a:prstGeom prst="rect">
            <a:avLst/>
          </a:prstGeom>
          <a:solidFill>
            <a:srgbClr val="1B3A5A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half of the programme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0" y="205740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idle capacity from operational downtime as distinct measures, so each can be managed on its own terms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downtime out by mould and material to test whether specific tooling or polymers drive stoppages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output opportunity: what additional volume is available if idle shifts are reduced by 10%?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same analysis approach to the Assembly division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description to quantified recommendations the business can act 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Moulding Division — Performance Analysis  |  Data Duo Mentoring, QUB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2026-07-27T17:17:00Z</dcterms:created>
  <dcterms:modified xsi:type="dcterms:W3CDTF">2026-07-27T17:17:00Z</dcterms:modified>
</cp:coreProperties>
</file>