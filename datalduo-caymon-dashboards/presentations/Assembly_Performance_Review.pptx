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83F"/>
                </a:solidFill>
                <a:latin typeface="Arial"/>
              </a:defRPr>
            </a:pPr>
            <a:r>
              <a:rPr sz="1300" b="0" i="0" u="none" strike="noStrike">
                <a:solidFill>
                  <a:srgbClr val="12283F"/>
                </a:solidFill>
                <a:latin typeface="Arial"/>
              </a:rPr>
              <a:t>Weighted Avg OEE %</a:t>
            </a:r>
          </a:p>
        </c:rich>
      </c:tx>
      <c:layout/>
      <c:overlay val="0"/>
    </c:title>
    <c:autoTitleDeleted val="0"/>
    <c:plotArea>
      <c:layout/>
      <c:barChart>
        <c:barDir val="col"/>
        <c:grouping val="clustered"/>
        <c:varyColors val="0"/>
        <c:ser>
          <c:idx val="0"/>
          <c:order val="0"/>
          <c:tx>
            <c:strRef>
              <c:f>Sheet1!$B$1</c:f>
              <c:strCache>
                <c:ptCount val="1"/>
                <c:pt idx="0">
                  <c:v>Weighted OEE %</c:v>
                </c:pt>
              </c:strCache>
            </c:strRef>
          </c:tx>
          <c:spPr>
            <a:solidFill>
              <a:srgbClr val="3E7A4E"/>
            </a:solidFill>
            <a:effectLst/>
          </c:spPr>
          <c:invertIfNegative val="0"/>
          <c:dLbls>
            <c:numFmt formatCode="#,##0" sourceLinked="0"/>
            <c:txPr>
              <a:bodyPr/>
              <a:lstStyle/>
              <a:p>
                <a:pPr>
                  <a:defRPr b="0" i="0" strike="noStrike" sz="1000" u="none">
                    <a:solidFill>
                      <a:srgbClr val="12283F"/>
                    </a:solidFill>
                    <a:latin typeface="Arial"/>
                  </a:defRPr>
                </a:pPr>
              </a:p>
            </c:txPr>
            <c:showLegendKey val="0"/>
            <c:showVal val="1"/>
            <c:showCatName val="0"/>
            <c:showSerName val="0"/>
            <c:showPercent val="0"/>
            <c:showBubbleSize val="0"/>
            <c:showLeaderLines val="0"/>
          </c:dLbls>
          <c:cat>
            <c:multiLvlStrRef>
              <c:f>Sheet1!$A$2:$A$7</c:f>
              <c:multiLvlStrCache>
                <c:ptCount val="6"/>
                <c:lvl>
                  <c:pt idx="0">
                    <c:v>MC7</c:v>
                  </c:pt>
                  <c:pt idx="1">
                    <c:v>MC2</c:v>
                  </c:pt>
                  <c:pt idx="2">
                    <c:v>MC5</c:v>
                  </c:pt>
                  <c:pt idx="3">
                    <c:v>MC3</c:v>
                  </c:pt>
                  <c:pt idx="4">
                    <c:v>MC8</c:v>
                  </c:pt>
                  <c:pt idx="5">
                    <c:v>MC1</c:v>
                  </c:pt>
                </c:lvl>
              </c:multiLvlStrCache>
            </c:multiLvlStrRef>
          </c:cat>
          <c:val>
            <c:numRef>
              <c:f>Sheet1!$B$2:$B$7</c:f>
              <c:numCache>
                <c:formatCode>General</c:formatCode>
                <c:ptCount val="6"/>
                <c:pt idx="0">
                  <c:v>71.8</c:v>
                </c:pt>
                <c:pt idx="1">
                  <c:v>68.7</c:v>
                </c:pt>
                <c:pt idx="2">
                  <c:v>68.5</c:v>
                </c:pt>
                <c:pt idx="3">
                  <c:v>68.3</c:v>
                </c:pt>
                <c:pt idx="4">
                  <c:v>66.8</c:v>
                </c:pt>
                <c:pt idx="5">
                  <c:v>64.7</c:v>
                </c:pt>
              </c:numCache>
            </c:numRef>
          </c:val>
        </c:ser>
        <c:dLbls>
          <c:numFmt formatCode="#,##0" sourceLinked="0"/>
          <c:txPr>
            <a:bodyPr/>
            <a:lstStyle/>
            <a:p>
              <a:pPr>
                <a:defRPr b="0" i="0" strike="noStrike" sz="10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5DA"/>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80"/>
        </c:scaling>
        <c:delete val="0"/>
        <c:axPos val="l"/>
        <c:majorGridlines>
          <c:spPr>
            <a:ln w="12700" cap="flat">
              <a:solidFill>
                <a:srgbClr val="E5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83F"/>
                </a:solidFill>
                <a:latin typeface="Arial"/>
              </a:defRPr>
            </a:pPr>
            <a:r>
              <a:rPr sz="1300" b="0" i="0" u="none" strike="noStrike">
                <a:solidFill>
                  <a:srgbClr val="12283F"/>
                </a:solidFill>
                <a:latin typeface="Arial"/>
              </a:rPr>
              <a:t>Reject Rate %</a:t>
            </a:r>
          </a:p>
        </c:rich>
      </c:tx>
      <c:layout/>
      <c:overlay val="0"/>
    </c:title>
    <c:autoTitleDeleted val="0"/>
    <c:plotArea>
      <c:layout/>
      <c:barChart>
        <c:barDir val="col"/>
        <c:grouping val="clustered"/>
        <c:varyColors val="0"/>
        <c:ser>
          <c:idx val="0"/>
          <c:order val="0"/>
          <c:tx>
            <c:strRef>
              <c:f>Sheet1!$B$1</c:f>
              <c:strCache>
                <c:ptCount val="1"/>
                <c:pt idx="0">
                  <c:v>Reject rate %</c:v>
                </c:pt>
              </c:strCache>
            </c:strRef>
          </c:tx>
          <c:spPr>
            <a:solidFill>
              <a:srgbClr val="D97706"/>
            </a:solidFill>
            <a:effectLst/>
          </c:spPr>
          <c:invertIfNegative val="0"/>
          <c:dLbls>
            <c:numFmt formatCode="#,##0" sourceLinked="0"/>
            <c:txPr>
              <a:bodyPr/>
              <a:lstStyle/>
              <a:p>
                <a:pPr>
                  <a:defRPr b="0" i="0" strike="noStrike" sz="1000" u="none">
                    <a:solidFill>
                      <a:srgbClr val="12283F"/>
                    </a:solidFill>
                    <a:latin typeface="Arial"/>
                  </a:defRPr>
                </a:pPr>
              </a:p>
            </c:txPr>
            <c:showLegendKey val="0"/>
            <c:showVal val="1"/>
            <c:showCatName val="0"/>
            <c:showSerName val="0"/>
            <c:showPercent val="0"/>
            <c:showBubbleSize val="0"/>
            <c:showLeaderLines val="0"/>
          </c:dLbls>
          <c:cat>
            <c:multiLvlStrRef>
              <c:f>Sheet1!$A$2:$A$7</c:f>
              <c:multiLvlStrCache>
                <c:ptCount val="6"/>
                <c:lvl>
                  <c:pt idx="0">
                    <c:v>MC7</c:v>
                  </c:pt>
                  <c:pt idx="1">
                    <c:v>MC2</c:v>
                  </c:pt>
                  <c:pt idx="2">
                    <c:v>MC5</c:v>
                  </c:pt>
                  <c:pt idx="3">
                    <c:v>MC3</c:v>
                  </c:pt>
                  <c:pt idx="4">
                    <c:v>MC8</c:v>
                  </c:pt>
                  <c:pt idx="5">
                    <c:v>MC1</c:v>
                  </c:pt>
                </c:lvl>
              </c:multiLvlStrCache>
            </c:multiLvlStrRef>
          </c:cat>
          <c:val>
            <c:numRef>
              <c:f>Sheet1!$B$2:$B$7</c:f>
              <c:numCache>
                <c:formatCode>General</c:formatCode>
                <c:ptCount val="6"/>
                <c:pt idx="0">
                  <c:v>2.4</c:v>
                </c:pt>
                <c:pt idx="1">
                  <c:v>3.13</c:v>
                </c:pt>
                <c:pt idx="2">
                  <c:v>3.66</c:v>
                </c:pt>
                <c:pt idx="3">
                  <c:v>3.09</c:v>
                </c:pt>
                <c:pt idx="4">
                  <c:v>0</c:v>
                </c:pt>
                <c:pt idx="5">
                  <c:v>3.91</c:v>
                </c:pt>
              </c:numCache>
            </c:numRef>
          </c:val>
        </c:ser>
        <c:dLbls>
          <c:numFmt formatCode="#,##0" sourceLinked="0"/>
          <c:txPr>
            <a:bodyPr/>
            <a:lstStyle/>
            <a:p>
              <a:pPr>
                <a:defRPr b="0" i="0" strike="noStrike" sz="10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5DA"/>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5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Number of stoppages</c:v>
                </c:pt>
              </c:strCache>
            </c:strRef>
          </c:tx>
          <c:spPr>
            <a:solidFill>
              <a:srgbClr val="1B3A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MC2</c:v>
                  </c:pt>
                  <c:pt idx="1">
                    <c:v>MC3</c:v>
                  </c:pt>
                  <c:pt idx="2">
                    <c:v>MC1</c:v>
                  </c:pt>
                  <c:pt idx="3">
                    <c:v>MC7</c:v>
                  </c:pt>
                  <c:pt idx="4">
                    <c:v>MC8</c:v>
                  </c:pt>
                  <c:pt idx="5">
                    <c:v>Family D 2nd</c:v>
                  </c:pt>
                  <c:pt idx="6">
                    <c:v>MC5</c:v>
                  </c:pt>
                </c:lvl>
              </c:multiLvlStrCache>
            </c:multiLvlStrRef>
          </c:cat>
          <c:val>
            <c:numRef>
              <c:f>Sheet1!$B$2:$B$8</c:f>
              <c:numCache>
                <c:formatCode>General</c:formatCode>
                <c:ptCount val="7"/>
                <c:pt idx="0">
                  <c:v>2376</c:v>
                </c:pt>
                <c:pt idx="1">
                  <c:v>3506</c:v>
                </c:pt>
                <c:pt idx="2">
                  <c:v>16150</c:v>
                </c:pt>
                <c:pt idx="3">
                  <c:v>18247</c:v>
                </c:pt>
                <c:pt idx="4">
                  <c:v>29046</c:v>
                </c:pt>
                <c:pt idx="5">
                  <c:v>19407</c:v>
                </c:pt>
                <c:pt idx="6">
                  <c:v>41132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Avg minutes per stoppage</c:v>
                </c:pt>
              </c:strCache>
            </c:strRef>
          </c:tx>
          <c:spPr>
            <a:solidFill>
              <a:srgbClr val="1B3A5A"/>
            </a:solidFill>
            <a:ln w="25400" cap="flat">
              <a:solidFill>
                <a:srgbClr val="1B3A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3A5A"/>
              </a:solidFill>
              <a:ln w="9525" cap="flat">
                <a:solidFill>
                  <a:srgbClr val="1B3A5A"/>
                </a:solidFill>
                <a:prstDash val="solid"/>
                <a:round/>
              </a:ln>
              <a:effectLst/>
            </c:spPr>
          </c:marker>
          <c:cat>
            <c:multiLvlStrRef>
              <c:f>Sheet1!$A$2:$A$8</c:f>
              <c:multiLvlStrCache>
                <c:ptCount val="7"/>
                <c:lvl>
                  <c:pt idx="0">
                    <c:v>MC2</c:v>
                  </c:pt>
                  <c:pt idx="1">
                    <c:v>MC3</c:v>
                  </c:pt>
                  <c:pt idx="2">
                    <c:v>MC1</c:v>
                  </c:pt>
                  <c:pt idx="3">
                    <c:v>MC7</c:v>
                  </c:pt>
                  <c:pt idx="4">
                    <c:v>MC8</c:v>
                  </c:pt>
                  <c:pt idx="5">
                    <c:v>Family D 2nd</c:v>
                  </c:pt>
                  <c:pt idx="6">
                    <c:v>MC5</c:v>
                  </c:pt>
                </c:lvl>
              </c:multiLvlStrCache>
            </c:multiLvlStrRef>
          </c:cat>
          <c:val>
            <c:numRef>
              <c:f>Sheet1!$C$2:$C$8</c:f>
              <c:numCache>
                <c:formatCode>General</c:formatCode>
                <c:ptCount val="7"/>
                <c:pt idx="0">
                  <c:v>60.2</c:v>
                </c:pt>
                <c:pt idx="1">
                  <c:v>38.7</c:v>
                </c:pt>
                <c:pt idx="2">
                  <c:v>11.5</c:v>
                </c:pt>
                <c:pt idx="3">
                  <c:v>8.1</c:v>
                </c:pt>
                <c:pt idx="4">
                  <c:v>6.6</c:v>
                </c:pt>
                <c:pt idx="5">
                  <c:v>4.3</c:v>
                </c:pt>
                <c:pt idx="6">
                  <c:v>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D0D5DA"/>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8EB"/>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Number of stoppages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b="0" i="0" u="none" strike="noStrike">
                    <a:solidFill>
                      <a:srgbClr val="000000"/>
                    </a:solidFill>
                    <a:latin typeface="Arial"/>
                  </a:defRPr>
                </a:pPr>
                <a:r>
                  <a:rPr b="0" i="0" u="none" strike="noStrike">
                    <a:solidFill>
                      <a:srgbClr val="000000"/>
                    </a:solidFill>
                    <a:latin typeface="Arial"/>
                  </a:rPr>
                  <a:t>Avg minutes per stop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D0D5DA"/>
            </a:solidFill>
            <a:prstDash val="solid"/>
            <a:round/>
          </a:ln>
        </c:spPr>
        <c:txPr>
          <a:bodyPr/>
          <a:lstStyle/>
          <a:p>
            <a:pPr>
              <a:defRPr sz="1000" b="0" i="0" u="none" strike="noStrike">
                <a:solidFill>
                  <a:srgbClr val="1A1A1A"/>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solidFill>
                <a:srgbClr val="1A1A1A"/>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Downtime %</c:v>
                </c:pt>
              </c:strCache>
            </c:strRef>
          </c:tx>
          <c:spPr>
            <a:solidFill>
              <a:srgbClr val="B94A48"/>
            </a:solidFill>
            <a:effectLst/>
          </c:spPr>
          <c:invertIfNegative val="0"/>
          <c:dLbls>
            <c:numFmt formatCode="#,##0" sourceLinked="0"/>
            <c:txPr>
              <a:bodyPr/>
              <a:lstStyle/>
              <a:p>
                <a:pPr>
                  <a:defRPr b="0" i="0" strike="noStrike" sz="1000" u="none">
                    <a:solidFill>
                      <a:srgbClr val="12283F"/>
                    </a:solidFill>
                    <a:latin typeface="Arial"/>
                  </a:defRPr>
                </a:pPr>
              </a:p>
            </c:txPr>
            <c:showLegendKey val="0"/>
            <c:showVal val="1"/>
            <c:showCatName val="0"/>
            <c:showSerName val="0"/>
            <c:showPercent val="0"/>
            <c:showBubbleSize val="0"/>
            <c:showLeaderLines val="0"/>
          </c:dLbls>
          <c:cat>
            <c:multiLvlStrRef>
              <c:f>Sheet1!$A$2:$A$8</c:f>
              <c:multiLvlStrCache>
                <c:ptCount val="7"/>
                <c:lvl>
                  <c:pt idx="0">
                    <c:v>MC8</c:v>
                  </c:pt>
                  <c:pt idx="1">
                    <c:v>MC1</c:v>
                  </c:pt>
                  <c:pt idx="2">
                    <c:v>MC7</c:v>
                  </c:pt>
                  <c:pt idx="3">
                    <c:v>MC2</c:v>
                  </c:pt>
                  <c:pt idx="4">
                    <c:v>MC5</c:v>
                  </c:pt>
                  <c:pt idx="5">
                    <c:v>MC3</c:v>
                  </c:pt>
                  <c:pt idx="6">
                    <c:v>Family D 2nd</c:v>
                  </c:pt>
                </c:lvl>
              </c:multiLvlStrCache>
            </c:multiLvlStrRef>
          </c:cat>
          <c:val>
            <c:numRef>
              <c:f>Sheet1!$B$2:$B$8</c:f>
              <c:numCache>
                <c:formatCode>General</c:formatCode>
                <c:ptCount val="7"/>
                <c:pt idx="0">
                  <c:v>74.3</c:v>
                </c:pt>
                <c:pt idx="1">
                  <c:v>72.1</c:v>
                </c:pt>
                <c:pt idx="2">
                  <c:v>57</c:v>
                </c:pt>
                <c:pt idx="3">
                  <c:v>55.5</c:v>
                </c:pt>
                <c:pt idx="4">
                  <c:v>53.7</c:v>
                </c:pt>
                <c:pt idx="5">
                  <c:v>52.6</c:v>
                </c:pt>
                <c:pt idx="6">
                  <c:v>32.6</c:v>
                </c:pt>
              </c:numCache>
            </c:numRef>
          </c:val>
        </c:ser>
        <c:dLbls>
          <c:numFmt formatCode="#,##0" sourceLinked="0"/>
          <c:txPr>
            <a:bodyPr/>
            <a:lstStyle/>
            <a:p>
              <a:pPr>
                <a:defRPr b="0" i="0" strike="noStrike" sz="10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5DA"/>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E5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Weighted OEE %</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D97706"/>
              </a:solidFill>
              <a:ln w="9525" cap="flat">
                <a:solidFill>
                  <a:srgbClr val="D97706"/>
                </a:solidFill>
                <a:prstDash val="solid"/>
                <a:round/>
              </a:ln>
              <a:effectLst/>
            </c:spPr>
          </c:marker>
          <c:cat>
            <c:multiLvlStrRef>
              <c:f>Sheet1!$A$2:$A$26</c:f>
              <c:multiLvlStrCache>
                <c:ptCount val="25"/>
                <c:lvl>
                  <c:pt idx="0">
                    <c:v>Jan 05</c:v>
                  </c:pt>
                  <c:pt idx="1">
                    <c:v>Jan 12</c:v>
                  </c:pt>
                  <c:pt idx="2">
                    <c:v>Jan 19</c:v>
                  </c:pt>
                  <c:pt idx="3">
                    <c:v>Jan 26</c:v>
                  </c:pt>
                  <c:pt idx="4">
                    <c:v>Feb 02</c:v>
                  </c:pt>
                  <c:pt idx="5">
                    <c:v>Feb 09</c:v>
                  </c:pt>
                  <c:pt idx="6">
                    <c:v>Feb 16</c:v>
                  </c:pt>
                  <c:pt idx="7">
                    <c:v>Feb 23</c:v>
                  </c:pt>
                  <c:pt idx="8">
                    <c:v>Mar 02</c:v>
                  </c:pt>
                  <c:pt idx="9">
                    <c:v>Mar 09</c:v>
                  </c:pt>
                  <c:pt idx="10">
                    <c:v>Mar 16</c:v>
                  </c:pt>
                  <c:pt idx="11">
                    <c:v>Mar 23</c:v>
                  </c:pt>
                  <c:pt idx="12">
                    <c:v>Mar 30</c:v>
                  </c:pt>
                  <c:pt idx="13">
                    <c:v>Apr 06</c:v>
                  </c:pt>
                  <c:pt idx="14">
                    <c:v>Apr 13</c:v>
                  </c:pt>
                  <c:pt idx="15">
                    <c:v>Apr 20</c:v>
                  </c:pt>
                  <c:pt idx="16">
                    <c:v>Apr 27</c:v>
                  </c:pt>
                  <c:pt idx="17">
                    <c:v>May 04</c:v>
                  </c:pt>
                  <c:pt idx="18">
                    <c:v>May 11</c:v>
                  </c:pt>
                  <c:pt idx="19">
                    <c:v>May 18</c:v>
                  </c:pt>
                  <c:pt idx="20">
                    <c:v>May 25</c:v>
                  </c:pt>
                  <c:pt idx="21">
                    <c:v>Jun 01</c:v>
                  </c:pt>
                  <c:pt idx="22">
                    <c:v>Jun 08</c:v>
                  </c:pt>
                  <c:pt idx="23">
                    <c:v>Jun 15</c:v>
                  </c:pt>
                  <c:pt idx="24">
                    <c:v>Jun 22</c:v>
                  </c:pt>
                </c:lvl>
              </c:multiLvlStrCache>
            </c:multiLvlStrRef>
          </c:cat>
          <c:val>
            <c:numRef>
              <c:f>Sheet1!$B$2:$B$26</c:f>
              <c:numCache>
                <c:formatCode>General</c:formatCode>
                <c:ptCount val="25"/>
                <c:pt idx="0">
                  <c:v>65.4</c:v>
                </c:pt>
                <c:pt idx="1">
                  <c:v>70.3</c:v>
                </c:pt>
                <c:pt idx="2">
                  <c:v>71.2</c:v>
                </c:pt>
                <c:pt idx="3">
                  <c:v>69</c:v>
                </c:pt>
                <c:pt idx="4">
                  <c:v>68.5</c:v>
                </c:pt>
                <c:pt idx="5">
                  <c:v>68.6</c:v>
                </c:pt>
                <c:pt idx="6">
                  <c:v>68.7</c:v>
                </c:pt>
                <c:pt idx="7">
                  <c:v>68.3</c:v>
                </c:pt>
                <c:pt idx="8">
                  <c:v>70.3</c:v>
                </c:pt>
                <c:pt idx="9">
                  <c:v>69.1</c:v>
                </c:pt>
                <c:pt idx="10">
                  <c:v>71.1</c:v>
                </c:pt>
                <c:pt idx="11">
                  <c:v>65.4</c:v>
                </c:pt>
                <c:pt idx="12">
                  <c:v>62.9</c:v>
                </c:pt>
                <c:pt idx="13">
                  <c:v>66.4</c:v>
                </c:pt>
                <c:pt idx="14">
                  <c:v>66.6</c:v>
                </c:pt>
                <c:pt idx="15">
                  <c:v>67</c:v>
                </c:pt>
                <c:pt idx="16">
                  <c:v>71.4</c:v>
                </c:pt>
                <c:pt idx="17">
                  <c:v>70.8</c:v>
                </c:pt>
                <c:pt idx="18">
                  <c:v>69.2</c:v>
                </c:pt>
                <c:pt idx="19">
                  <c:v>68.2</c:v>
                </c:pt>
                <c:pt idx="20">
                  <c:v>64.8</c:v>
                </c:pt>
                <c:pt idx="21">
                  <c:v>66.6</c:v>
                </c:pt>
                <c:pt idx="22">
                  <c:v>66.5</c:v>
                </c:pt>
                <c:pt idx="23">
                  <c:v>65.3</c:v>
                </c:pt>
                <c:pt idx="24">
                  <c:v>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0D5DA"/>
            </a:solidFill>
            <a:prstDash val="solid"/>
            <a:round/>
          </a:ln>
        </c:spPr>
        <c:txPr>
          <a:bodyPr/>
          <a:lstStyle/>
          <a:p>
            <a:pPr>
              <a:defRPr sz="8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75"/>
          <c:min val="55"/>
        </c:scaling>
        <c:delete val="0"/>
        <c:axPos val="l"/>
        <c:majorGridlines>
          <c:spPr>
            <a:ln w="12700" cap="flat">
              <a:solidFill>
                <a:srgbClr val="E5E8EB"/>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Weighted OEE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83F"/>
                </a:solidFill>
                <a:latin typeface="Arial"/>
              </a:defRPr>
            </a:pPr>
            <a:r>
              <a:rPr sz="1200" b="0" i="0" u="none" strike="noStrike">
                <a:solidFill>
                  <a:srgbClr val="12283F"/>
                </a:solidFill>
                <a:latin typeface="Arial"/>
              </a:rPr>
              <a:t>Top customers by volume (M units)</a:t>
            </a:r>
          </a:p>
        </c:rich>
      </c:tx>
      <c:layout/>
      <c:overlay val="0"/>
    </c:title>
    <c:autoTitleDeleted val="0"/>
    <c:plotArea>
      <c:layout/>
      <c:barChart>
        <c:barDir val="bar"/>
        <c:grouping val="clustered"/>
        <c:varyColors val="0"/>
        <c:ser>
          <c:idx val="0"/>
          <c:order val="0"/>
          <c:tx>
            <c:strRef>
              <c:f>Sheet1!$B$1</c:f>
              <c:strCache>
                <c:ptCount val="1"/>
                <c:pt idx="0">
                  <c:v>Units booked (millions)</c:v>
                </c:pt>
              </c:strCache>
            </c:strRef>
          </c:tx>
          <c:spPr>
            <a:solidFill>
              <a:srgbClr val="D97706"/>
            </a:solidFill>
            <a:effectLst/>
          </c:spPr>
          <c:invertIfNegative val="0"/>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cat>
            <c:multiLvlStrRef>
              <c:f>Sheet1!$A$2:$A$9</c:f>
              <c:multiLvlStrCache>
                <c:ptCount val="8"/>
                <c:lvl>
                  <c:pt idx="0">
                    <c:v>Frapak</c:v>
                  </c:pt>
                  <c:pt idx="1">
                    <c:v>Cambrian</c:v>
                  </c:pt>
                  <c:pt idx="2">
                    <c:v>Mexon</c:v>
                  </c:pt>
                  <c:pt idx="3">
                    <c:v>Autoglym</c:v>
                  </c:pt>
                  <c:pt idx="4">
                    <c:v>Lindner</c:v>
                  </c:pt>
                  <c:pt idx="5">
                    <c:v>Tetrosyl</c:v>
                  </c:pt>
                  <c:pt idx="6">
                    <c:v>Schmidt</c:v>
                  </c:pt>
                  <c:pt idx="7">
                    <c:v>Villarreal</c:v>
                  </c:pt>
                </c:lvl>
              </c:multiLvlStrCache>
            </c:multiLvlStrRef>
          </c:cat>
          <c:val>
            <c:numRef>
              <c:f>Sheet1!$B$2:$B$9</c:f>
              <c:numCache>
                <c:formatCode>General</c:formatCode>
                <c:ptCount val="8"/>
                <c:pt idx="0">
                  <c:v>5.09</c:v>
                </c:pt>
                <c:pt idx="1">
                  <c:v>3.74</c:v>
                </c:pt>
                <c:pt idx="2">
                  <c:v>1.88</c:v>
                </c:pt>
                <c:pt idx="3">
                  <c:v>1.71</c:v>
                </c:pt>
                <c:pt idx="4">
                  <c:v>1.44</c:v>
                </c:pt>
                <c:pt idx="5">
                  <c:v>1.38</c:v>
                </c:pt>
                <c:pt idx="6">
                  <c:v>1.14</c:v>
                </c:pt>
                <c:pt idx="7">
                  <c:v>0.94</c:v>
                </c:pt>
              </c:numCache>
            </c:numRef>
          </c:val>
        </c:ser>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0D5DA"/>
            </a:solidFill>
            <a:prstDash val="solid"/>
            <a:round/>
          </a:ln>
        </c:spPr>
        <c:txPr>
          <a:bodyPr/>
          <a:lstStyle/>
          <a:p>
            <a:pPr>
              <a:defRPr sz="9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83F"/>
                </a:solidFill>
                <a:latin typeface="Arial"/>
              </a:defRPr>
            </a:pPr>
            <a:r>
              <a:rPr sz="1200" b="0" i="0" u="none" strike="noStrike">
                <a:solidFill>
                  <a:srgbClr val="12283F"/>
                </a:solidFill>
                <a:latin typeface="Arial"/>
              </a:rPr>
              <a:t>Top customers by order frequency</a:t>
            </a:r>
          </a:p>
        </c:rich>
      </c:tx>
      <c:layout/>
      <c:overlay val="0"/>
    </c:title>
    <c:autoTitleDeleted val="0"/>
    <c:plotArea>
      <c:layout/>
      <c:barChart>
        <c:barDir val="bar"/>
        <c:grouping val="clustered"/>
        <c:varyColors val="0"/>
        <c:ser>
          <c:idx val="0"/>
          <c:order val="0"/>
          <c:tx>
            <c:strRef>
              <c:f>Sheet1!$B$1</c:f>
              <c:strCache>
                <c:ptCount val="1"/>
                <c:pt idx="0">
                  <c:v>Number of orders</c:v>
                </c:pt>
              </c:strCache>
            </c:strRef>
          </c:tx>
          <c:spPr>
            <a:solidFill>
              <a:srgbClr val="2C6E7F"/>
            </a:solidFill>
            <a:effectLst/>
          </c:spPr>
          <c:invertIfNegative val="0"/>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cat>
            <c:multiLvlStrRef>
              <c:f>Sheet1!$A$2:$A$9</c:f>
              <c:multiLvlStrCache>
                <c:ptCount val="8"/>
                <c:lvl>
                  <c:pt idx="0">
                    <c:v>Cambrian</c:v>
                  </c:pt>
                  <c:pt idx="1">
                    <c:v>Frapak</c:v>
                  </c:pt>
                  <c:pt idx="2">
                    <c:v>Lindner</c:v>
                  </c:pt>
                  <c:pt idx="3">
                    <c:v>Autoglym</c:v>
                  </c:pt>
                  <c:pt idx="4">
                    <c:v>Epoca</c:v>
                  </c:pt>
                  <c:pt idx="5">
                    <c:v>Schmidt</c:v>
                  </c:pt>
                  <c:pt idx="6">
                    <c:v>Zitrodis</c:v>
                  </c:pt>
                  <c:pt idx="7">
                    <c:v>Villarreal</c:v>
                  </c:pt>
                </c:lvl>
              </c:multiLvlStrCache>
            </c:multiLvlStrRef>
          </c:cat>
          <c:val>
            <c:numRef>
              <c:f>Sheet1!$B$2:$B$9</c:f>
              <c:numCache>
                <c:formatCode>General</c:formatCode>
                <c:ptCount val="8"/>
                <c:pt idx="0">
                  <c:v>102</c:v>
                </c:pt>
                <c:pt idx="1">
                  <c:v>90</c:v>
                </c:pt>
                <c:pt idx="2">
                  <c:v>57</c:v>
                </c:pt>
                <c:pt idx="3">
                  <c:v>31</c:v>
                </c:pt>
                <c:pt idx="4">
                  <c:v>27</c:v>
                </c:pt>
                <c:pt idx="5">
                  <c:v>25</c:v>
                </c:pt>
                <c:pt idx="6">
                  <c:v>20</c:v>
                </c:pt>
                <c:pt idx="7">
                  <c:v>19</c:v>
                </c:pt>
              </c:numCache>
            </c:numRef>
          </c:val>
        </c:ser>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0D5DA"/>
            </a:solidFill>
            <a:prstDash val="solid"/>
            <a:round/>
          </a:ln>
        </c:spPr>
        <c:txPr>
          <a:bodyPr/>
          <a:lstStyle/>
          <a:p>
            <a:pPr>
              <a:defRPr sz="9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Cumulative % of booked volume</c:v>
                </c:pt>
              </c:strCache>
            </c:strRef>
          </c:tx>
          <c:spPr>
            <a:solidFill>
              <a:srgbClr val="D97706"/>
            </a:solidFill>
            <a:ln w="38100" cap="flat">
              <a:solidFill>
                <a:srgbClr val="D97706"/>
              </a:solidFill>
              <a:prstDash val="solid"/>
              <a:round/>
            </a:ln>
            <a:effectLst/>
          </c:spPr>
          <c:invertIfNegative val="0"/>
          <c:dLbls>
            <c:numFmt formatCode="#,##0" sourceLinked="0"/>
            <c:txPr>
              <a:bodyPr/>
              <a:lstStyle/>
              <a:p>
                <a:pPr>
                  <a:defRPr b="0" i="0" strike="noStrike" sz="900" u="none">
                    <a:solidFill>
                      <a:srgbClr val="12283F"/>
                    </a:solidFill>
                    <a:latin typeface="Arial"/>
                  </a:defRPr>
                </a:pPr>
              </a:p>
            </c:txPr>
            <c:dLblPos val="t"/>
            <c:showLegendKey val="0"/>
            <c:showVal val="1"/>
            <c:showCatName val="0"/>
            <c:showSerName val="0"/>
            <c:showPercent val="0"/>
            <c:showBubbleSize val="0"/>
            <c:showLeaderLines val="0"/>
          </c:dLbls>
          <c:marker>
            <c:symbol val="circle"/>
            <c:size val="7"/>
            <c:spPr>
              <a:solidFill>
                <a:srgbClr val="D97706"/>
              </a:solidFill>
              <a:ln w="9525" cap="flat">
                <a:solidFill>
                  <a:srgbClr val="D97706"/>
                </a:solidFill>
                <a:prstDash val="solid"/>
                <a:round/>
              </a:ln>
              <a:effectLst/>
            </c:spPr>
          </c:marker>
          <c:cat>
            <c:multiLvlStrRef>
              <c:f>Sheet1!$A$2:$A$10</c:f>
              <c:multiLvlStrCache>
                <c:ptCount val="9"/>
                <c:lvl>
                  <c:pt idx="0">
                    <c:v>Top 1</c:v>
                  </c:pt>
                  <c:pt idx="1">
                    <c:v>Top 3</c:v>
                  </c:pt>
                  <c:pt idx="2">
                    <c:v>Top 5</c:v>
                  </c:pt>
                  <c:pt idx="3">
                    <c:v>Top 10</c:v>
                  </c:pt>
                  <c:pt idx="4">
                    <c:v>Top 15</c:v>
                  </c:pt>
                  <c:pt idx="5">
                    <c:v>Top 20</c:v>
                  </c:pt>
                  <c:pt idx="6">
                    <c:v>Top 30</c:v>
                  </c:pt>
                  <c:pt idx="7">
                    <c:v>Top 50</c:v>
                  </c:pt>
                  <c:pt idx="8">
                    <c:v>All 95</c:v>
                  </c:pt>
                </c:lvl>
              </c:multiLvlStrCache>
            </c:multiLvlStrRef>
          </c:cat>
          <c:val>
            <c:numRef>
              <c:f>Sheet1!$B$2:$B$10</c:f>
              <c:numCache>
                <c:formatCode>General</c:formatCode>
                <c:ptCount val="9"/>
                <c:pt idx="0">
                  <c:v>18</c:v>
                </c:pt>
                <c:pt idx="1">
                  <c:v>37.8</c:v>
                </c:pt>
                <c:pt idx="2">
                  <c:v>48.9</c:v>
                </c:pt>
                <c:pt idx="3">
                  <c:v>66.1</c:v>
                </c:pt>
                <c:pt idx="4">
                  <c:v>74.2</c:v>
                </c:pt>
                <c:pt idx="5">
                  <c:v>81</c:v>
                </c:pt>
                <c:pt idx="6">
                  <c:v>89.7</c:v>
                </c:pt>
                <c:pt idx="7">
                  <c:v>96.4</c:v>
                </c:pt>
                <c:pt idx="8">
                  <c:v>100</c:v>
                </c:pt>
              </c:numCache>
            </c:numRef>
          </c:val>
          <c:smooth val="0"/>
        </c:ser>
        <c:dLbls>
          <c:numFmt formatCode="#,##0" sourceLinked="0"/>
          <c:txPr>
            <a:bodyPr/>
            <a:lstStyle/>
            <a:p>
              <a:pPr>
                <a:defRPr b="0" i="0" strike="noStrike" sz="900" u="none">
                  <a:solidFill>
                    <a:srgbClr val="12283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0D5DA"/>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5E8EB"/>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Cumulative % of volume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83F"/>
                </a:solidFill>
                <a:latin typeface="Arial"/>
              </a:defRPr>
            </a:pPr>
            <a:r>
              <a:rPr sz="1200" b="0" i="0" u="none" strike="noStrike">
                <a:solidFill>
                  <a:srgbClr val="12283F"/>
                </a:solidFill>
                <a:latin typeface="Arial"/>
              </a:rPr>
              <a:t>By total volume booked (M)</a:t>
            </a:r>
          </a:p>
        </c:rich>
      </c:tx>
      <c:layout/>
      <c:overlay val="0"/>
    </c:title>
    <c:autoTitleDeleted val="0"/>
    <c:plotArea>
      <c:layout/>
      <c:barChart>
        <c:barDir val="bar"/>
        <c:grouping val="clustered"/>
        <c:varyColors val="0"/>
        <c:ser>
          <c:idx val="0"/>
          <c:order val="0"/>
          <c:tx>
            <c:strRef>
              <c:f>Sheet1!$B$1</c:f>
              <c:strCache>
                <c:ptCount val="1"/>
                <c:pt idx="0">
                  <c:v>Total booked (M units)</c:v>
                </c:pt>
              </c:strCache>
            </c:strRef>
          </c:tx>
          <c:spPr>
            <a:solidFill>
              <a:srgbClr val="1B3A5A"/>
            </a:solidFill>
            <a:effectLst/>
          </c:spPr>
          <c:invertIfNegative val="0"/>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cat>
            <c:multiLvlStrRef>
              <c:f>Sheet1!$A$2:$A$9</c:f>
              <c:multiLvlStrCache>
                <c:ptCount val="8"/>
                <c:lvl>
                  <c:pt idx="0">
                    <c:v>Boguslaw K.</c:v>
                  </c:pt>
                  <c:pt idx="1">
                    <c:v>Richard L.</c:v>
                  </c:pt>
                  <c:pt idx="2">
                    <c:v>Mariola J.</c:v>
                  </c:pt>
                  <c:pt idx="3">
                    <c:v>Liz M.</c:v>
                  </c:pt>
                  <c:pt idx="4">
                    <c:v>Lukasz C.</c:v>
                  </c:pt>
                  <c:pt idx="5">
                    <c:v>Pawel K.</c:v>
                  </c:pt>
                  <c:pt idx="6">
                    <c:v>Dragos R.</c:v>
                  </c:pt>
                  <c:pt idx="7">
                    <c:v>Natalia K.</c:v>
                  </c:pt>
                </c:lvl>
              </c:multiLvlStrCache>
            </c:multiLvlStrRef>
          </c:cat>
          <c:val>
            <c:numRef>
              <c:f>Sheet1!$B$2:$B$9</c:f>
              <c:numCache>
                <c:formatCode>General</c:formatCode>
                <c:ptCount val="8"/>
                <c:pt idx="0">
                  <c:v>2.86</c:v>
                </c:pt>
                <c:pt idx="1">
                  <c:v>2.26</c:v>
                </c:pt>
                <c:pt idx="2">
                  <c:v>2.26</c:v>
                </c:pt>
                <c:pt idx="3">
                  <c:v>2.17</c:v>
                </c:pt>
                <c:pt idx="4">
                  <c:v>1.79</c:v>
                </c:pt>
                <c:pt idx="5">
                  <c:v>1.7</c:v>
                </c:pt>
                <c:pt idx="6">
                  <c:v>1.52</c:v>
                </c:pt>
                <c:pt idx="7">
                  <c:v>1.49</c:v>
                </c:pt>
              </c:numCache>
            </c:numRef>
          </c:val>
        </c:ser>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0D5DA"/>
            </a:solidFill>
            <a:prstDash val="solid"/>
            <a:round/>
          </a:ln>
        </c:spPr>
        <c:txPr>
          <a:bodyPr/>
          <a:lstStyle/>
          <a:p>
            <a:pPr>
              <a:defRPr sz="9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83F"/>
                </a:solidFill>
                <a:latin typeface="Arial"/>
              </a:defRPr>
            </a:pPr>
            <a:r>
              <a:rPr sz="1200" b="0" i="0" u="none" strike="noStrike">
                <a:solidFill>
                  <a:srgbClr val="12283F"/>
                </a:solidFill>
                <a:latin typeface="Arial"/>
              </a:rPr>
              <a:t>By output per shift (thousands)</a:t>
            </a:r>
          </a:p>
        </c:rich>
      </c:tx>
      <c:layout/>
      <c:overlay val="0"/>
    </c:title>
    <c:autoTitleDeleted val="0"/>
    <c:plotArea>
      <c:layout/>
      <c:barChart>
        <c:barDir val="bar"/>
        <c:grouping val="clustered"/>
        <c:varyColors val="0"/>
        <c:ser>
          <c:idx val="0"/>
          <c:order val="0"/>
          <c:tx>
            <c:strRef>
              <c:f>Sheet1!$B$1</c:f>
              <c:strCache>
                <c:ptCount val="1"/>
                <c:pt idx="0">
                  <c:v>Units per shift (thousands)</c:v>
                </c:pt>
              </c:strCache>
            </c:strRef>
          </c:tx>
          <c:spPr>
            <a:solidFill>
              <a:srgbClr val="3E7A4E"/>
            </a:solidFill>
            <a:effectLst/>
          </c:spPr>
          <c:invertIfNegative val="0"/>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cat>
            <c:multiLvlStrRef>
              <c:f>Sheet1!$A$2:$A$9</c:f>
              <c:multiLvlStrCache>
                <c:ptCount val="8"/>
                <c:lvl>
                  <c:pt idx="0">
                    <c:v>Andrew W.</c:v>
                  </c:pt>
                  <c:pt idx="1">
                    <c:v>Jerzy W.</c:v>
                  </c:pt>
                  <c:pt idx="2">
                    <c:v>Boguslaw K.</c:v>
                  </c:pt>
                  <c:pt idx="3">
                    <c:v>Slawomir J.</c:v>
                  </c:pt>
                  <c:pt idx="4">
                    <c:v>Cosmina T.</c:v>
                  </c:pt>
                  <c:pt idx="5">
                    <c:v>Shazia H.</c:v>
                  </c:pt>
                  <c:pt idx="6">
                    <c:v>Mariola J.</c:v>
                  </c:pt>
                  <c:pt idx="7">
                    <c:v>Natalia K.</c:v>
                  </c:pt>
                </c:lvl>
              </c:multiLvlStrCache>
            </c:multiLvlStrRef>
          </c:cat>
          <c:val>
            <c:numRef>
              <c:f>Sheet1!$B$2:$B$9</c:f>
              <c:numCache>
                <c:formatCode>General</c:formatCode>
                <c:ptCount val="8"/>
                <c:pt idx="0">
                  <c:v>24.2</c:v>
                </c:pt>
                <c:pt idx="1">
                  <c:v>21.5</c:v>
                </c:pt>
                <c:pt idx="2">
                  <c:v>18</c:v>
                </c:pt>
                <c:pt idx="3">
                  <c:v>16.5</c:v>
                </c:pt>
                <c:pt idx="4">
                  <c:v>16</c:v>
                </c:pt>
                <c:pt idx="5">
                  <c:v>15.8</c:v>
                </c:pt>
                <c:pt idx="6">
                  <c:v>15.8</c:v>
                </c:pt>
                <c:pt idx="7">
                  <c:v>15.5</c:v>
                </c:pt>
              </c:numCache>
            </c:numRef>
          </c:val>
        </c:ser>
        <c:dLbls>
          <c:numFmt formatCode="#,##0" sourceLinked="0"/>
          <c:txPr>
            <a:bodyPr/>
            <a:lstStyle/>
            <a:p>
              <a:pPr>
                <a:defRPr b="0" i="0" strike="noStrike" sz="900" u="none">
                  <a:solidFill>
                    <a:srgbClr val="1228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0D5DA"/>
            </a:solidFill>
            <a:prstDash val="solid"/>
            <a:round/>
          </a:ln>
        </c:spPr>
        <c:txPr>
          <a:bodyPr/>
          <a:lstStyle/>
          <a:p>
            <a:pPr>
              <a:defRPr sz="9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F"/>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2283F"/>
          </a:solidFill>
          <a:ln/>
        </p:spPr>
      </p:sp>
      <p:sp>
        <p:nvSpPr>
          <p:cNvPr id="3" name="Shape 1"/>
          <p:cNvSpPr/>
          <p:nvPr/>
        </p:nvSpPr>
        <p:spPr>
          <a:xfrm>
            <a:off x="0" y="4160520"/>
            <a:ext cx="12161520" cy="2697480"/>
          </a:xfrm>
          <a:prstGeom prst="rect">
            <a:avLst/>
          </a:prstGeom>
          <a:solidFill>
            <a:srgbClr val="1B3A5A"/>
          </a:solidFill>
          <a:ln/>
        </p:spPr>
      </p:sp>
      <p:sp>
        <p:nvSpPr>
          <p:cNvPr id="4" name="Text 2"/>
          <p:cNvSpPr/>
          <p:nvPr/>
        </p:nvSpPr>
        <p:spPr>
          <a:xfrm>
            <a:off x="822960" y="1920240"/>
            <a:ext cx="10515600" cy="6400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ASSEMBLY DIVISION</a:t>
            </a:r>
            <a:endParaRPr lang="en-US" sz="4000" dirty="0"/>
          </a:p>
        </p:txBody>
      </p:sp>
      <p:sp>
        <p:nvSpPr>
          <p:cNvPr id="5" name="Text 3"/>
          <p:cNvSpPr/>
          <p:nvPr/>
        </p:nvSpPr>
        <p:spPr>
          <a:xfrm>
            <a:off x="822960" y="2560320"/>
            <a:ext cx="10515600" cy="594360"/>
          </a:xfrm>
          <a:prstGeom prst="rect">
            <a:avLst/>
          </a:prstGeom>
          <a:noFill/>
          <a:ln/>
        </p:spPr>
        <p:txBody>
          <a:bodyPr wrap="square" rtlCol="0" anchor="ctr"/>
          <a:lstStyle/>
          <a:p>
            <a:pPr indent="0" marL="0">
              <a:buNone/>
            </a:pPr>
            <a:r>
              <a:rPr lang="en-US" sz="4000" b="1" dirty="0">
                <a:solidFill>
                  <a:srgbClr val="F2A65A"/>
                </a:solidFill>
                <a:latin typeface="Calibri" pitchFamily="34" charset="0"/>
                <a:ea typeface="Calibri" pitchFamily="34" charset="-122"/>
                <a:cs typeface="Calibri" pitchFamily="34" charset="-120"/>
              </a:rPr>
              <a:t>Performance Analysis</a:t>
            </a:r>
            <a:endParaRPr lang="en-US" sz="4000" dirty="0"/>
          </a:p>
        </p:txBody>
      </p:sp>
      <p:sp>
        <p:nvSpPr>
          <p:cNvPr id="6" name="Text 4"/>
          <p:cNvSpPr/>
          <p:nvPr/>
        </p:nvSpPr>
        <p:spPr>
          <a:xfrm>
            <a:off x="822960" y="3291840"/>
            <a:ext cx="10515600" cy="365760"/>
          </a:xfrm>
          <a:prstGeom prst="rect">
            <a:avLst/>
          </a:prstGeom>
          <a:noFill/>
          <a:ln/>
        </p:spPr>
        <p:txBody>
          <a:bodyPr wrap="square" rtlCol="0" anchor="ctr"/>
          <a:lstStyle/>
          <a:p>
            <a:pPr indent="0" marL="0">
              <a:buNone/>
            </a:pPr>
            <a:r>
              <a:rPr lang="en-US" sz="1600" dirty="0">
                <a:solidFill>
                  <a:srgbClr val="C9D6E3"/>
                </a:solidFill>
                <a:latin typeface="Calibri" pitchFamily="34" charset="0"/>
                <a:ea typeface="Calibri" pitchFamily="34" charset="-122"/>
                <a:cs typeface="Calibri" pitchFamily="34" charset="-120"/>
              </a:rPr>
              <a:t>Data Duo Mentoring Programme  •  Mid-Programme Review</a:t>
            </a:r>
            <a:endParaRPr lang="en-US" sz="1600" dirty="0"/>
          </a:p>
        </p:txBody>
      </p:sp>
      <p:sp>
        <p:nvSpPr>
          <p:cNvPr id="7" name="Text 5"/>
          <p:cNvSpPr/>
          <p:nvPr/>
        </p:nvSpPr>
        <p:spPr>
          <a:xfrm>
            <a:off x="822960" y="4709160"/>
            <a:ext cx="54864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Prepared by Chandra</a:t>
            </a:r>
            <a:endParaRPr lang="en-US" sz="1400" dirty="0"/>
          </a:p>
        </p:txBody>
      </p:sp>
      <p:sp>
        <p:nvSpPr>
          <p:cNvPr id="8" name="Text 6"/>
          <p:cNvSpPr/>
          <p:nvPr/>
        </p:nvSpPr>
        <p:spPr>
          <a:xfrm>
            <a:off x="822960" y="5029200"/>
            <a:ext cx="5486400" cy="320040"/>
          </a:xfrm>
          <a:prstGeom prst="rect">
            <a:avLst/>
          </a:prstGeom>
          <a:noFill/>
          <a:ln/>
        </p:spPr>
        <p:txBody>
          <a:bodyPr wrap="square" rtlCol="0" anchor="ctr"/>
          <a:lstStyle/>
          <a:p>
            <a:pPr indent="0" marL="0">
              <a:buNone/>
            </a:pPr>
            <a:r>
              <a:rPr lang="en-US" sz="1200" dirty="0">
                <a:solidFill>
                  <a:srgbClr val="C9D6E3"/>
                </a:solidFill>
                <a:latin typeface="Calibri" pitchFamily="34" charset="0"/>
                <a:ea typeface="Calibri" pitchFamily="34" charset="-122"/>
                <a:cs typeface="Calibri" pitchFamily="34" charset="-120"/>
              </a:rPr>
              <a:t>MSc Business Analytics, Queen's University Belfast</a:t>
            </a:r>
            <a:endParaRPr lang="en-US" sz="1200" dirty="0"/>
          </a:p>
        </p:txBody>
      </p:sp>
      <p:sp>
        <p:nvSpPr>
          <p:cNvPr id="9" name="Text 7"/>
          <p:cNvSpPr/>
          <p:nvPr/>
        </p:nvSpPr>
        <p:spPr>
          <a:xfrm>
            <a:off x="822960" y="5943600"/>
            <a:ext cx="9144000" cy="274320"/>
          </a:xfrm>
          <a:prstGeom prst="rect">
            <a:avLst/>
          </a:prstGeom>
          <a:noFill/>
          <a:ln/>
        </p:spPr>
        <p:txBody>
          <a:bodyPr wrap="square" rtlCol="0" anchor="ctr"/>
          <a:lstStyle/>
          <a:p>
            <a:pPr indent="0" marL="0">
              <a:buNone/>
            </a:pPr>
            <a:r>
              <a:rPr lang="en-US" sz="1100" dirty="0">
                <a:solidFill>
                  <a:srgbClr val="8FA3B8"/>
                </a:solidFill>
                <a:latin typeface="Calibri" pitchFamily="34" charset="0"/>
                <a:ea typeface="Calibri" pitchFamily="34" charset="-122"/>
                <a:cs typeface="Calibri" pitchFamily="34" charset="-120"/>
              </a:rPr>
              <a:t>7 active assembly lines  •  27.1M units  •  641 customer orders  •  January –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What This Review Covers</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 first analytical pass on the Assembly division data</a:t>
            </a:r>
            <a:endParaRPr lang="en-US" sz="1350" dirty="0"/>
          </a:p>
        </p:txBody>
      </p:sp>
      <p:sp>
        <p:nvSpPr>
          <p:cNvPr id="4" name="Shape 2"/>
          <p:cNvSpPr/>
          <p:nvPr/>
        </p:nvSpPr>
        <p:spPr>
          <a:xfrm>
            <a:off x="548640" y="1554480"/>
            <a:ext cx="5349240" cy="1417320"/>
          </a:xfrm>
          <a:prstGeom prst="rect">
            <a:avLst/>
          </a:prstGeom>
          <a:solidFill>
            <a:srgbClr val="F4F6F8"/>
          </a:solidFill>
          <a:ln/>
        </p:spPr>
      </p:sp>
      <p:sp>
        <p:nvSpPr>
          <p:cNvPr id="5" name="Text 3"/>
          <p:cNvSpPr/>
          <p:nvPr/>
        </p:nvSpPr>
        <p:spPr>
          <a:xfrm>
            <a:off x="777240" y="1700784"/>
            <a:ext cx="914400" cy="548640"/>
          </a:xfrm>
          <a:prstGeom prst="rect">
            <a:avLst/>
          </a:prstGeom>
          <a:noFill/>
          <a:ln/>
        </p:spPr>
        <p:txBody>
          <a:bodyPr wrap="square" rtlCol="0" anchor="ctr"/>
          <a:lstStyle/>
          <a:p>
            <a:pPr indent="0" marL="0">
              <a:buNone/>
            </a:pPr>
            <a:r>
              <a:rPr lang="en-US" sz="2500" b="1" dirty="0">
                <a:solidFill>
                  <a:srgbClr val="D97706"/>
                </a:solidFill>
                <a:latin typeface="Calibri" pitchFamily="34" charset="0"/>
                <a:ea typeface="Calibri" pitchFamily="34" charset="-122"/>
                <a:cs typeface="Calibri" pitchFamily="34" charset="-120"/>
              </a:rPr>
              <a:t>01</a:t>
            </a:r>
            <a:endParaRPr lang="en-US" sz="2500" dirty="0"/>
          </a:p>
        </p:txBody>
      </p:sp>
      <p:sp>
        <p:nvSpPr>
          <p:cNvPr id="6" name="Text 4"/>
          <p:cNvSpPr/>
          <p:nvPr/>
        </p:nvSpPr>
        <p:spPr>
          <a:xfrm>
            <a:off x="1600200" y="1719072"/>
            <a:ext cx="4069080" cy="365760"/>
          </a:xfrm>
          <a:prstGeom prst="rect">
            <a:avLst/>
          </a:prstGeom>
          <a:noFill/>
          <a:ln/>
        </p:spPr>
        <p:txBody>
          <a:bodyPr wrap="square" rtlCol="0" anchor="ctr"/>
          <a:lstStyle/>
          <a:p>
            <a:pPr indent="0" marL="0">
              <a:buNone/>
            </a:pPr>
            <a:r>
              <a:rPr lang="en-US" sz="1500" b="1" dirty="0">
                <a:solidFill>
                  <a:srgbClr val="12283F"/>
                </a:solidFill>
                <a:latin typeface="Calibri" pitchFamily="34" charset="0"/>
                <a:ea typeface="Calibri" pitchFamily="34" charset="-122"/>
                <a:cs typeface="Calibri" pitchFamily="34" charset="-120"/>
              </a:rPr>
              <a:t>Scope &amp; data quality</a:t>
            </a:r>
            <a:endParaRPr lang="en-US" sz="1500" dirty="0"/>
          </a:p>
        </p:txBody>
      </p:sp>
      <p:sp>
        <p:nvSpPr>
          <p:cNvPr id="7" name="Text 5"/>
          <p:cNvSpPr/>
          <p:nvPr/>
        </p:nvSpPr>
        <p:spPr>
          <a:xfrm>
            <a:off x="1600200" y="2084832"/>
            <a:ext cx="4069080" cy="77724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Which lines carry data, which do not, and one gap that changes a headline result</a:t>
            </a:r>
            <a:endParaRPr lang="en-US" sz="1100" dirty="0"/>
          </a:p>
        </p:txBody>
      </p:sp>
      <p:sp>
        <p:nvSpPr>
          <p:cNvPr id="8" name="Shape 6"/>
          <p:cNvSpPr/>
          <p:nvPr/>
        </p:nvSpPr>
        <p:spPr>
          <a:xfrm>
            <a:off x="6217920" y="1554480"/>
            <a:ext cx="5349240" cy="1417320"/>
          </a:xfrm>
          <a:prstGeom prst="rect">
            <a:avLst/>
          </a:prstGeom>
          <a:solidFill>
            <a:srgbClr val="F4F6F8"/>
          </a:solidFill>
          <a:ln/>
        </p:spPr>
      </p:sp>
      <p:sp>
        <p:nvSpPr>
          <p:cNvPr id="9" name="Text 7"/>
          <p:cNvSpPr/>
          <p:nvPr/>
        </p:nvSpPr>
        <p:spPr>
          <a:xfrm>
            <a:off x="6446520" y="1700784"/>
            <a:ext cx="914400" cy="548640"/>
          </a:xfrm>
          <a:prstGeom prst="rect">
            <a:avLst/>
          </a:prstGeom>
          <a:noFill/>
          <a:ln/>
        </p:spPr>
        <p:txBody>
          <a:bodyPr wrap="square" rtlCol="0" anchor="ctr"/>
          <a:lstStyle/>
          <a:p>
            <a:pPr indent="0" marL="0">
              <a:buNone/>
            </a:pPr>
            <a:r>
              <a:rPr lang="en-US" sz="2500" b="1" dirty="0">
                <a:solidFill>
                  <a:srgbClr val="D97706"/>
                </a:solidFill>
                <a:latin typeface="Calibri" pitchFamily="34" charset="0"/>
                <a:ea typeface="Calibri" pitchFamily="34" charset="-122"/>
                <a:cs typeface="Calibri" pitchFamily="34" charset="-120"/>
              </a:rPr>
              <a:t>02</a:t>
            </a:r>
            <a:endParaRPr lang="en-US" sz="2500" dirty="0"/>
          </a:p>
        </p:txBody>
      </p:sp>
      <p:sp>
        <p:nvSpPr>
          <p:cNvPr id="10" name="Text 8"/>
          <p:cNvSpPr/>
          <p:nvPr/>
        </p:nvSpPr>
        <p:spPr>
          <a:xfrm>
            <a:off x="7269480" y="1719072"/>
            <a:ext cx="4069080" cy="365760"/>
          </a:xfrm>
          <a:prstGeom prst="rect">
            <a:avLst/>
          </a:prstGeom>
          <a:noFill/>
          <a:ln/>
        </p:spPr>
        <p:txBody>
          <a:bodyPr wrap="square" rtlCol="0" anchor="ctr"/>
          <a:lstStyle/>
          <a:p>
            <a:pPr indent="0" marL="0">
              <a:buNone/>
            </a:pPr>
            <a:r>
              <a:rPr lang="en-US" sz="1500" b="1" dirty="0">
                <a:solidFill>
                  <a:srgbClr val="12283F"/>
                </a:solidFill>
                <a:latin typeface="Calibri" pitchFamily="34" charset="0"/>
                <a:ea typeface="Calibri" pitchFamily="34" charset="-122"/>
                <a:cs typeface="Calibri" pitchFamily="34" charset="-120"/>
              </a:rPr>
              <a:t>Reading OEE correctly</a:t>
            </a:r>
            <a:endParaRPr lang="en-US" sz="1500" dirty="0"/>
          </a:p>
        </p:txBody>
      </p:sp>
      <p:sp>
        <p:nvSpPr>
          <p:cNvPr id="11" name="Text 9"/>
          <p:cNvSpPr/>
          <p:nvPr/>
        </p:nvSpPr>
        <p:spPr>
          <a:xfrm>
            <a:off x="7269480" y="2084832"/>
            <a:ext cx="4069080" cy="77724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Why the raw average understates performance by 16 points</a:t>
            </a:r>
            <a:endParaRPr lang="en-US" sz="1100" dirty="0"/>
          </a:p>
        </p:txBody>
      </p:sp>
      <p:sp>
        <p:nvSpPr>
          <p:cNvPr id="12" name="Shape 10"/>
          <p:cNvSpPr/>
          <p:nvPr/>
        </p:nvSpPr>
        <p:spPr>
          <a:xfrm>
            <a:off x="548640" y="3191256"/>
            <a:ext cx="5349240" cy="1417320"/>
          </a:xfrm>
          <a:prstGeom prst="rect">
            <a:avLst/>
          </a:prstGeom>
          <a:solidFill>
            <a:srgbClr val="F4F6F8"/>
          </a:solidFill>
          <a:ln/>
        </p:spPr>
      </p:sp>
      <p:sp>
        <p:nvSpPr>
          <p:cNvPr id="13" name="Text 11"/>
          <p:cNvSpPr/>
          <p:nvPr/>
        </p:nvSpPr>
        <p:spPr>
          <a:xfrm>
            <a:off x="777240" y="3337560"/>
            <a:ext cx="914400" cy="548640"/>
          </a:xfrm>
          <a:prstGeom prst="rect">
            <a:avLst/>
          </a:prstGeom>
          <a:noFill/>
          <a:ln/>
        </p:spPr>
        <p:txBody>
          <a:bodyPr wrap="square" rtlCol="0" anchor="ctr"/>
          <a:lstStyle/>
          <a:p>
            <a:pPr indent="0" marL="0">
              <a:buNone/>
            </a:pPr>
            <a:r>
              <a:rPr lang="en-US" sz="2500" b="1" dirty="0">
                <a:solidFill>
                  <a:srgbClr val="D97706"/>
                </a:solidFill>
                <a:latin typeface="Calibri" pitchFamily="34" charset="0"/>
                <a:ea typeface="Calibri" pitchFamily="34" charset="-122"/>
                <a:cs typeface="Calibri" pitchFamily="34" charset="-120"/>
              </a:rPr>
              <a:t>03</a:t>
            </a:r>
            <a:endParaRPr lang="en-US" sz="2500" dirty="0"/>
          </a:p>
        </p:txBody>
      </p:sp>
      <p:sp>
        <p:nvSpPr>
          <p:cNvPr id="14" name="Text 12"/>
          <p:cNvSpPr/>
          <p:nvPr/>
        </p:nvSpPr>
        <p:spPr>
          <a:xfrm>
            <a:off x="1600200" y="3355848"/>
            <a:ext cx="4069080" cy="365760"/>
          </a:xfrm>
          <a:prstGeom prst="rect">
            <a:avLst/>
          </a:prstGeom>
          <a:noFill/>
          <a:ln/>
        </p:spPr>
        <p:txBody>
          <a:bodyPr wrap="square" rtlCol="0" anchor="ctr"/>
          <a:lstStyle/>
          <a:p>
            <a:pPr indent="0" marL="0">
              <a:buNone/>
            </a:pPr>
            <a:r>
              <a:rPr lang="en-US" sz="1500" b="1" dirty="0">
                <a:solidFill>
                  <a:srgbClr val="12283F"/>
                </a:solidFill>
                <a:latin typeface="Calibri" pitchFamily="34" charset="0"/>
                <a:ea typeface="Calibri" pitchFamily="34" charset="-122"/>
                <a:cs typeface="Calibri" pitchFamily="34" charset="-120"/>
              </a:rPr>
              <a:t>Line performance</a:t>
            </a:r>
            <a:endParaRPr lang="en-US" sz="1500" dirty="0"/>
          </a:p>
        </p:txBody>
      </p:sp>
      <p:sp>
        <p:nvSpPr>
          <p:cNvPr id="15" name="Text 13"/>
          <p:cNvSpPr/>
          <p:nvPr/>
        </p:nvSpPr>
        <p:spPr>
          <a:xfrm>
            <a:off x="1600200" y="3721608"/>
            <a:ext cx="4069080" cy="77724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Output, efficiency and reject rates across the six primary lines</a:t>
            </a:r>
            <a:endParaRPr lang="en-US" sz="1100" dirty="0"/>
          </a:p>
        </p:txBody>
      </p:sp>
      <p:sp>
        <p:nvSpPr>
          <p:cNvPr id="16" name="Shape 14"/>
          <p:cNvSpPr/>
          <p:nvPr/>
        </p:nvSpPr>
        <p:spPr>
          <a:xfrm>
            <a:off x="6217920" y="3191256"/>
            <a:ext cx="5349240" cy="1417320"/>
          </a:xfrm>
          <a:prstGeom prst="rect">
            <a:avLst/>
          </a:prstGeom>
          <a:solidFill>
            <a:srgbClr val="F4F6F8"/>
          </a:solidFill>
          <a:ln/>
        </p:spPr>
      </p:sp>
      <p:sp>
        <p:nvSpPr>
          <p:cNvPr id="17" name="Text 15"/>
          <p:cNvSpPr/>
          <p:nvPr/>
        </p:nvSpPr>
        <p:spPr>
          <a:xfrm>
            <a:off x="6446520" y="3337560"/>
            <a:ext cx="914400" cy="548640"/>
          </a:xfrm>
          <a:prstGeom prst="rect">
            <a:avLst/>
          </a:prstGeom>
          <a:noFill/>
          <a:ln/>
        </p:spPr>
        <p:txBody>
          <a:bodyPr wrap="square" rtlCol="0" anchor="ctr"/>
          <a:lstStyle/>
          <a:p>
            <a:pPr indent="0" marL="0">
              <a:buNone/>
            </a:pPr>
            <a:r>
              <a:rPr lang="en-US" sz="2500" b="1" dirty="0">
                <a:solidFill>
                  <a:srgbClr val="D97706"/>
                </a:solidFill>
                <a:latin typeface="Calibri" pitchFamily="34" charset="0"/>
                <a:ea typeface="Calibri" pitchFamily="34" charset="-122"/>
                <a:cs typeface="Calibri" pitchFamily="34" charset="-120"/>
              </a:rPr>
              <a:t>04</a:t>
            </a:r>
            <a:endParaRPr lang="en-US" sz="2500" dirty="0"/>
          </a:p>
        </p:txBody>
      </p:sp>
      <p:sp>
        <p:nvSpPr>
          <p:cNvPr id="18" name="Text 16"/>
          <p:cNvSpPr/>
          <p:nvPr/>
        </p:nvSpPr>
        <p:spPr>
          <a:xfrm>
            <a:off x="7269480" y="3355848"/>
            <a:ext cx="4069080" cy="365760"/>
          </a:xfrm>
          <a:prstGeom prst="rect">
            <a:avLst/>
          </a:prstGeom>
          <a:noFill/>
          <a:ln/>
        </p:spPr>
        <p:txBody>
          <a:bodyPr wrap="square" rtlCol="0" anchor="ctr"/>
          <a:lstStyle/>
          <a:p>
            <a:pPr indent="0" marL="0">
              <a:buNone/>
            </a:pPr>
            <a:r>
              <a:rPr lang="en-US" sz="1500" b="1" dirty="0">
                <a:solidFill>
                  <a:srgbClr val="12283F"/>
                </a:solidFill>
                <a:latin typeface="Calibri" pitchFamily="34" charset="0"/>
                <a:ea typeface="Calibri" pitchFamily="34" charset="-122"/>
                <a:cs typeface="Calibri" pitchFamily="34" charset="-120"/>
              </a:rPr>
              <a:t>Downtime &amp; stoppages</a:t>
            </a:r>
            <a:endParaRPr lang="en-US" sz="1500" dirty="0"/>
          </a:p>
        </p:txBody>
      </p:sp>
      <p:sp>
        <p:nvSpPr>
          <p:cNvPr id="19" name="Text 17"/>
          <p:cNvSpPr/>
          <p:nvPr/>
        </p:nvSpPr>
        <p:spPr>
          <a:xfrm>
            <a:off x="7269480" y="3721608"/>
            <a:ext cx="4069080" cy="77724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Where time is lost, and two very different stoppage patterns</a:t>
            </a:r>
            <a:endParaRPr lang="en-US" sz="1100" dirty="0"/>
          </a:p>
        </p:txBody>
      </p:sp>
      <p:sp>
        <p:nvSpPr>
          <p:cNvPr id="20" name="Shape 18"/>
          <p:cNvSpPr/>
          <p:nvPr/>
        </p:nvSpPr>
        <p:spPr>
          <a:xfrm>
            <a:off x="548640" y="4828032"/>
            <a:ext cx="5349240" cy="1417320"/>
          </a:xfrm>
          <a:prstGeom prst="rect">
            <a:avLst/>
          </a:prstGeom>
          <a:solidFill>
            <a:srgbClr val="F4F6F8"/>
          </a:solidFill>
          <a:ln/>
        </p:spPr>
      </p:sp>
      <p:sp>
        <p:nvSpPr>
          <p:cNvPr id="21" name="Text 19"/>
          <p:cNvSpPr/>
          <p:nvPr/>
        </p:nvSpPr>
        <p:spPr>
          <a:xfrm>
            <a:off x="777240" y="4974336"/>
            <a:ext cx="914400" cy="548640"/>
          </a:xfrm>
          <a:prstGeom prst="rect">
            <a:avLst/>
          </a:prstGeom>
          <a:noFill/>
          <a:ln/>
        </p:spPr>
        <p:txBody>
          <a:bodyPr wrap="square" rtlCol="0" anchor="ctr"/>
          <a:lstStyle/>
          <a:p>
            <a:pPr indent="0" marL="0">
              <a:buNone/>
            </a:pPr>
            <a:r>
              <a:rPr lang="en-US" sz="2500" b="1" dirty="0">
                <a:solidFill>
                  <a:srgbClr val="D97706"/>
                </a:solidFill>
                <a:latin typeface="Calibri" pitchFamily="34" charset="0"/>
                <a:ea typeface="Calibri" pitchFamily="34" charset="-122"/>
                <a:cs typeface="Calibri" pitchFamily="34" charset="-120"/>
              </a:rPr>
              <a:t>05</a:t>
            </a:r>
            <a:endParaRPr lang="en-US" sz="2500" dirty="0"/>
          </a:p>
        </p:txBody>
      </p:sp>
      <p:sp>
        <p:nvSpPr>
          <p:cNvPr id="22" name="Text 20"/>
          <p:cNvSpPr/>
          <p:nvPr/>
        </p:nvSpPr>
        <p:spPr>
          <a:xfrm>
            <a:off x="1600200" y="4992624"/>
            <a:ext cx="4069080" cy="365760"/>
          </a:xfrm>
          <a:prstGeom prst="rect">
            <a:avLst/>
          </a:prstGeom>
          <a:noFill/>
          <a:ln/>
        </p:spPr>
        <p:txBody>
          <a:bodyPr wrap="square" rtlCol="0" anchor="ctr"/>
          <a:lstStyle/>
          <a:p>
            <a:pPr indent="0" marL="0">
              <a:buNone/>
            </a:pPr>
            <a:r>
              <a:rPr lang="en-US" sz="1500" b="1" dirty="0">
                <a:solidFill>
                  <a:srgbClr val="12283F"/>
                </a:solidFill>
                <a:latin typeface="Calibri" pitchFamily="34" charset="0"/>
                <a:ea typeface="Calibri" pitchFamily="34" charset="-122"/>
                <a:cs typeface="Calibri" pitchFamily="34" charset="-120"/>
              </a:rPr>
              <a:t>Customer profile</a:t>
            </a:r>
            <a:endParaRPr lang="en-US" sz="1500" dirty="0"/>
          </a:p>
        </p:txBody>
      </p:sp>
      <p:sp>
        <p:nvSpPr>
          <p:cNvPr id="23" name="Text 21"/>
          <p:cNvSpPr/>
          <p:nvPr/>
        </p:nvSpPr>
        <p:spPr>
          <a:xfrm>
            <a:off x="1600200" y="5358384"/>
            <a:ext cx="4069080" cy="77724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Who orders most by value, and who orders most often</a:t>
            </a:r>
            <a:endParaRPr lang="en-US" sz="1100" dirty="0"/>
          </a:p>
        </p:txBody>
      </p:sp>
      <p:sp>
        <p:nvSpPr>
          <p:cNvPr id="24" name="Shape 22"/>
          <p:cNvSpPr/>
          <p:nvPr/>
        </p:nvSpPr>
        <p:spPr>
          <a:xfrm>
            <a:off x="6217920" y="4828032"/>
            <a:ext cx="5349240" cy="1417320"/>
          </a:xfrm>
          <a:prstGeom prst="rect">
            <a:avLst/>
          </a:prstGeom>
          <a:solidFill>
            <a:srgbClr val="F4F6F8"/>
          </a:solidFill>
          <a:ln/>
        </p:spPr>
      </p:sp>
      <p:sp>
        <p:nvSpPr>
          <p:cNvPr id="25" name="Text 23"/>
          <p:cNvSpPr/>
          <p:nvPr/>
        </p:nvSpPr>
        <p:spPr>
          <a:xfrm>
            <a:off x="6446520" y="4974336"/>
            <a:ext cx="914400" cy="548640"/>
          </a:xfrm>
          <a:prstGeom prst="rect">
            <a:avLst/>
          </a:prstGeom>
          <a:noFill/>
          <a:ln/>
        </p:spPr>
        <p:txBody>
          <a:bodyPr wrap="square" rtlCol="0" anchor="ctr"/>
          <a:lstStyle/>
          <a:p>
            <a:pPr indent="0" marL="0">
              <a:buNone/>
            </a:pPr>
            <a:r>
              <a:rPr lang="en-US" sz="2500" b="1" dirty="0">
                <a:solidFill>
                  <a:srgbClr val="D97706"/>
                </a:solidFill>
                <a:latin typeface="Calibri" pitchFamily="34" charset="0"/>
                <a:ea typeface="Calibri" pitchFamily="34" charset="-122"/>
                <a:cs typeface="Calibri" pitchFamily="34" charset="-120"/>
              </a:rPr>
              <a:t>06</a:t>
            </a:r>
            <a:endParaRPr lang="en-US" sz="2500" dirty="0"/>
          </a:p>
        </p:txBody>
      </p:sp>
      <p:sp>
        <p:nvSpPr>
          <p:cNvPr id="26" name="Text 24"/>
          <p:cNvSpPr/>
          <p:nvPr/>
        </p:nvSpPr>
        <p:spPr>
          <a:xfrm>
            <a:off x="7269480" y="4992624"/>
            <a:ext cx="4069080" cy="365760"/>
          </a:xfrm>
          <a:prstGeom prst="rect">
            <a:avLst/>
          </a:prstGeom>
          <a:noFill/>
          <a:ln/>
        </p:spPr>
        <p:txBody>
          <a:bodyPr wrap="square" rtlCol="0" anchor="ctr"/>
          <a:lstStyle/>
          <a:p>
            <a:pPr indent="0" marL="0">
              <a:buNone/>
            </a:pPr>
            <a:r>
              <a:rPr lang="en-US" sz="1500" b="1" dirty="0">
                <a:solidFill>
                  <a:srgbClr val="12283F"/>
                </a:solidFill>
                <a:latin typeface="Calibri" pitchFamily="34" charset="0"/>
                <a:ea typeface="Calibri" pitchFamily="34" charset="-122"/>
                <a:cs typeface="Calibri" pitchFamily="34" charset="-120"/>
              </a:rPr>
              <a:t>Insights &amp; recommendations</a:t>
            </a:r>
            <a:endParaRPr lang="en-US" sz="1500" dirty="0"/>
          </a:p>
        </p:txBody>
      </p:sp>
      <p:sp>
        <p:nvSpPr>
          <p:cNvPr id="27" name="Text 25"/>
          <p:cNvSpPr/>
          <p:nvPr/>
        </p:nvSpPr>
        <p:spPr>
          <a:xfrm>
            <a:off x="7269480" y="5358384"/>
            <a:ext cx="4069080" cy="77724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What the evidence supports, and what still needs confirming</a:t>
            </a:r>
            <a:endParaRPr lang="en-US" sz="1100" dirty="0"/>
          </a:p>
        </p:txBody>
      </p:sp>
      <p:sp>
        <p:nvSpPr>
          <p:cNvPr id="28" name="Text 2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29" name="Text 27"/>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Scope &amp; Data Coverage</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Twelve machine names appear in the data — only seven carry any records</a:t>
            </a:r>
            <a:endParaRPr lang="en-US" sz="1350" dirty="0"/>
          </a:p>
        </p:txBody>
      </p:sp>
      <p:sp>
        <p:nvSpPr>
          <p:cNvPr id="4" name="Text 2"/>
          <p:cNvSpPr/>
          <p:nvPr/>
        </p:nvSpPr>
        <p:spPr>
          <a:xfrm>
            <a:off x="548640" y="1463040"/>
            <a:ext cx="5349240" cy="292608"/>
          </a:xfrm>
          <a:prstGeom prst="rect">
            <a:avLst/>
          </a:prstGeom>
          <a:noFill/>
          <a:ln/>
        </p:spPr>
        <p:txBody>
          <a:bodyPr wrap="square" rtlCol="0" anchor="ctr"/>
          <a:lstStyle/>
          <a:p>
            <a:pPr indent="0" marL="0">
              <a:buNone/>
            </a:pPr>
            <a:r>
              <a:rPr lang="en-US" sz="1350" b="1" dirty="0">
                <a:solidFill>
                  <a:srgbClr val="3E7A4E"/>
                </a:solidFill>
                <a:latin typeface="Calibri" pitchFamily="34" charset="0"/>
                <a:ea typeface="Calibri" pitchFamily="34" charset="-122"/>
                <a:cs typeface="Calibri" pitchFamily="34" charset="-120"/>
              </a:rPr>
              <a:t>In scope — active lines</a:t>
            </a:r>
            <a:endParaRPr lang="en-US" sz="1350" dirty="0"/>
          </a:p>
        </p:txBody>
      </p:sp>
      <p:sp>
        <p:nvSpPr>
          <p:cNvPr id="5" name="Text 3"/>
          <p:cNvSpPr/>
          <p:nvPr/>
        </p:nvSpPr>
        <p:spPr>
          <a:xfrm>
            <a:off x="548640" y="1792224"/>
            <a:ext cx="5349240" cy="1600200"/>
          </a:xfrm>
          <a:prstGeom prst="rect">
            <a:avLst/>
          </a:prstGeom>
          <a:noFill/>
          <a:ln/>
        </p:spPr>
        <p:txBody>
          <a:bodyPr wrap="square" rtlCol="0" anchor="t"/>
          <a:lstStyle/>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MC1, MC2, MC3, MC5 — Family A product family</a:t>
            </a:r>
            <a:endParaRPr lang="en-US" sz="1200" dirty="0"/>
          </a:p>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MC7 — Family B</a:t>
            </a:r>
            <a:endParaRPr lang="en-US" sz="1200" dirty="0"/>
          </a:p>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MC8 — Family C</a:t>
            </a:r>
            <a:endParaRPr lang="en-US" sz="1200" dirty="0"/>
          </a:p>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Family D 2nd Machine (Assembly11) — Family D sub-assembly, tracked separately</a:t>
            </a:r>
            <a:endParaRPr lang="en-US" sz="1200" dirty="0"/>
          </a:p>
        </p:txBody>
      </p:sp>
      <p:sp>
        <p:nvSpPr>
          <p:cNvPr id="6" name="Text 4"/>
          <p:cNvSpPr/>
          <p:nvPr/>
        </p:nvSpPr>
        <p:spPr>
          <a:xfrm>
            <a:off x="548640" y="3520440"/>
            <a:ext cx="5349240" cy="292608"/>
          </a:xfrm>
          <a:prstGeom prst="rect">
            <a:avLst/>
          </a:prstGeom>
          <a:noFill/>
          <a:ln/>
        </p:spPr>
        <p:txBody>
          <a:bodyPr wrap="square" rtlCol="0" anchor="ctr"/>
          <a:lstStyle/>
          <a:p>
            <a:pPr indent="0" marL="0">
              <a:buNone/>
            </a:pPr>
            <a:r>
              <a:rPr lang="en-US" sz="1350" b="1" dirty="0">
                <a:solidFill>
                  <a:srgbClr val="B94A48"/>
                </a:solidFill>
                <a:latin typeface="Calibri" pitchFamily="34" charset="0"/>
                <a:ea typeface="Calibri" pitchFamily="34" charset="-122"/>
                <a:cs typeface="Calibri" pitchFamily="34" charset="-120"/>
              </a:rPr>
              <a:t>Excluded — no data or out of scope</a:t>
            </a:r>
            <a:endParaRPr lang="en-US" sz="1350" dirty="0"/>
          </a:p>
        </p:txBody>
      </p:sp>
      <p:sp>
        <p:nvSpPr>
          <p:cNvPr id="7" name="Text 5"/>
          <p:cNvSpPr/>
          <p:nvPr/>
        </p:nvSpPr>
        <p:spPr>
          <a:xfrm>
            <a:off x="548640" y="3849624"/>
            <a:ext cx="5349240" cy="2011680"/>
          </a:xfrm>
          <a:prstGeom prst="rect">
            <a:avLst/>
          </a:prstGeom>
          <a:noFill/>
          <a:ln/>
        </p:spPr>
        <p:txBody>
          <a:bodyPr wrap="square" rtlCol="0" anchor="t"/>
          <a:lstStyle/>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MC4 and MC6 — discontinued; zero output, though 4,295 stopped hours each are still logged against them</a:t>
            </a:r>
            <a:endParaRPr lang="en-US" sz="1200" dirty="0"/>
          </a:p>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Mesh Machine, Syngenta, Family B Machine — 355 rows each, entirely blank: no output, no OEE, no downtime</a:t>
            </a:r>
            <a:endParaRPr lang="en-US" sz="1200" dirty="0"/>
          </a:p>
          <a:p>
            <a:pPr marL="342900" indent="-342900">
              <a:lnSpc>
                <a:spcPct val="130000"/>
              </a:lnSpc>
              <a:buSzPct val="100000"/>
              <a:buChar char="•"/>
            </a:pPr>
            <a:r>
              <a:rPr lang="en-US" sz="1200" dirty="0">
                <a:solidFill>
                  <a:srgbClr val="1A1A1A"/>
                </a:solidFill>
                <a:latin typeface="Calibri" pitchFamily="34" charset="0"/>
                <a:ea typeface="Calibri" pitchFamily="34" charset="-122"/>
                <a:cs typeface="Calibri" pitchFamily="34" charset="-120"/>
              </a:rPr>
              <a:t>Assembly16, Assembly17 and Manual — outside the scope agreed for this review</a:t>
            </a:r>
            <a:endParaRPr lang="en-US" sz="1200" dirty="0"/>
          </a:p>
        </p:txBody>
      </p:sp>
      <p:sp>
        <p:nvSpPr>
          <p:cNvPr id="8" name="Shape 6"/>
          <p:cNvSpPr/>
          <p:nvPr/>
        </p:nvSpPr>
        <p:spPr>
          <a:xfrm>
            <a:off x="6263640" y="1463040"/>
            <a:ext cx="5349240" cy="4434840"/>
          </a:xfrm>
          <a:prstGeom prst="rect">
            <a:avLst/>
          </a:prstGeom>
          <a:solidFill>
            <a:srgbClr val="1B3A5A"/>
          </a:solidFill>
          <a:ln/>
        </p:spPr>
      </p:sp>
      <p:sp>
        <p:nvSpPr>
          <p:cNvPr id="9" name="Text 7"/>
          <p:cNvSpPr/>
          <p:nvPr/>
        </p:nvSpPr>
        <p:spPr>
          <a:xfrm>
            <a:off x="6583680" y="1691640"/>
            <a:ext cx="4754880" cy="320040"/>
          </a:xfrm>
          <a:prstGeom prst="rect">
            <a:avLst/>
          </a:prstGeom>
          <a:noFill/>
          <a:ln/>
        </p:spPr>
        <p:txBody>
          <a:bodyPr wrap="square" rtlCol="0" anchor="ctr"/>
          <a:lstStyle/>
          <a:p>
            <a:pPr indent="0" marL="0">
              <a:buNone/>
            </a:pPr>
            <a:r>
              <a:rPr lang="en-US" sz="1350" b="1" dirty="0">
                <a:solidFill>
                  <a:srgbClr val="F2A65A"/>
                </a:solidFill>
                <a:latin typeface="Calibri" pitchFamily="34" charset="0"/>
                <a:ea typeface="Calibri" pitchFamily="34" charset="-122"/>
                <a:cs typeface="Calibri" pitchFamily="34" charset="-120"/>
              </a:rPr>
              <a:t>Two things worth raising</a:t>
            </a:r>
            <a:endParaRPr lang="en-US" sz="1350" dirty="0"/>
          </a:p>
        </p:txBody>
      </p:sp>
      <p:sp>
        <p:nvSpPr>
          <p:cNvPr id="10" name="Text 8"/>
          <p:cNvSpPr/>
          <p:nvPr/>
        </p:nvSpPr>
        <p:spPr>
          <a:xfrm>
            <a:off x="6583680" y="2057400"/>
            <a:ext cx="4754880" cy="3657600"/>
          </a:xfrm>
          <a:prstGeom prst="rect">
            <a:avLst/>
          </a:prstGeom>
          <a:noFill/>
          <a:ln/>
        </p:spPr>
        <p:txBody>
          <a:bodyPr wrap="square" rtlCol="0" anchor="t"/>
          <a:lstStyle/>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The three blank sub-assembly machines are being recorded in the system but capture nothing. Either they are not instrumented, or the feed has failed. Worth knowing which.</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MC4 and MC6 are discontinued yet still accumulate stopped time — 8,590 hours combined. If included in any plant-wide downtime figure, they would materially distort it.</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Both are excluded from every number in this deck.</a:t>
            </a:r>
            <a:endParaRPr lang="en-US" sz="1200" dirty="0"/>
          </a:p>
        </p:txBody>
      </p:sp>
      <p:sp>
        <p:nvSpPr>
          <p:cNvPr id="11"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2" name="Text 10"/>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Assembly at a Glance</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Seven active lines, January – June 2026</a:t>
            </a:r>
            <a:endParaRPr lang="en-US" sz="1350" dirty="0"/>
          </a:p>
        </p:txBody>
      </p:sp>
      <p:sp>
        <p:nvSpPr>
          <p:cNvPr id="4" name="Shape 2"/>
          <p:cNvSpPr/>
          <p:nvPr/>
        </p:nvSpPr>
        <p:spPr>
          <a:xfrm>
            <a:off x="548640" y="1508760"/>
            <a:ext cx="3611880" cy="1965960"/>
          </a:xfrm>
          <a:prstGeom prst="rect">
            <a:avLst/>
          </a:prstGeom>
          <a:solidFill>
            <a:srgbClr val="F4F6F8"/>
          </a:solidFill>
          <a:ln/>
        </p:spPr>
      </p:sp>
      <p:sp>
        <p:nvSpPr>
          <p:cNvPr id="5" name="Text 3"/>
          <p:cNvSpPr/>
          <p:nvPr/>
        </p:nvSpPr>
        <p:spPr>
          <a:xfrm>
            <a:off x="777240" y="1783080"/>
            <a:ext cx="3154680" cy="777240"/>
          </a:xfrm>
          <a:prstGeom prst="rect">
            <a:avLst/>
          </a:prstGeom>
          <a:noFill/>
          <a:ln/>
        </p:spPr>
        <p:txBody>
          <a:bodyPr wrap="square" rtlCol="0" anchor="ctr"/>
          <a:lstStyle/>
          <a:p>
            <a:pPr indent="0" marL="0">
              <a:buNone/>
            </a:pPr>
            <a:r>
              <a:rPr lang="en-US" sz="3800" b="1" dirty="0">
                <a:solidFill>
                  <a:srgbClr val="D97706"/>
                </a:solidFill>
                <a:latin typeface="Calibri" pitchFamily="34" charset="0"/>
                <a:ea typeface="Calibri" pitchFamily="34" charset="-122"/>
                <a:cs typeface="Calibri" pitchFamily="34" charset="-120"/>
              </a:rPr>
              <a:t>27.1M</a:t>
            </a:r>
            <a:endParaRPr lang="en-US" sz="3800" dirty="0"/>
          </a:p>
        </p:txBody>
      </p:sp>
      <p:sp>
        <p:nvSpPr>
          <p:cNvPr id="6" name="Text 4"/>
          <p:cNvSpPr/>
          <p:nvPr/>
        </p:nvSpPr>
        <p:spPr>
          <a:xfrm>
            <a:off x="777240" y="2560320"/>
            <a:ext cx="31546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Good units produced</a:t>
            </a:r>
            <a:endParaRPr lang="en-US" sz="1400" dirty="0"/>
          </a:p>
        </p:txBody>
      </p:sp>
      <p:sp>
        <p:nvSpPr>
          <p:cNvPr id="7" name="Text 5"/>
          <p:cNvSpPr/>
          <p:nvPr/>
        </p:nvSpPr>
        <p:spPr>
          <a:xfrm>
            <a:off x="777240" y="2880360"/>
            <a:ext cx="3154680" cy="502920"/>
          </a:xfrm>
          <a:prstGeom prst="rect">
            <a:avLst/>
          </a:prstGeom>
          <a:noFill/>
          <a:ln/>
        </p:spPr>
        <p:txBody>
          <a:bodyPr wrap="square" rtlCol="0" anchor="t"/>
          <a:lstStyle/>
          <a:p>
            <a:pPr indent="0" marL="0">
              <a:buNone/>
            </a:pPr>
            <a:r>
              <a:rPr lang="en-US" sz="1000" dirty="0">
                <a:solidFill>
                  <a:srgbClr val="6B7280"/>
                </a:solidFill>
                <a:latin typeface="Calibri" pitchFamily="34" charset="0"/>
                <a:ea typeface="Calibri" pitchFamily="34" charset="-122"/>
                <a:cs typeface="Calibri" pitchFamily="34" charset="-120"/>
              </a:rPr>
              <a:t>Against 722,624 rejects across the period</a:t>
            </a:r>
            <a:endParaRPr lang="en-US" sz="1000" dirty="0"/>
          </a:p>
        </p:txBody>
      </p:sp>
      <p:sp>
        <p:nvSpPr>
          <p:cNvPr id="8" name="Shape 6"/>
          <p:cNvSpPr/>
          <p:nvPr/>
        </p:nvSpPr>
        <p:spPr>
          <a:xfrm>
            <a:off x="4389120" y="1508760"/>
            <a:ext cx="3611880" cy="1965960"/>
          </a:xfrm>
          <a:prstGeom prst="rect">
            <a:avLst/>
          </a:prstGeom>
          <a:solidFill>
            <a:srgbClr val="F4F6F8"/>
          </a:solidFill>
          <a:ln/>
        </p:spPr>
      </p:sp>
      <p:sp>
        <p:nvSpPr>
          <p:cNvPr id="9" name="Text 7"/>
          <p:cNvSpPr/>
          <p:nvPr/>
        </p:nvSpPr>
        <p:spPr>
          <a:xfrm>
            <a:off x="4617720" y="1783080"/>
            <a:ext cx="3154680" cy="777240"/>
          </a:xfrm>
          <a:prstGeom prst="rect">
            <a:avLst/>
          </a:prstGeom>
          <a:noFill/>
          <a:ln/>
        </p:spPr>
        <p:txBody>
          <a:bodyPr wrap="square" rtlCol="0" anchor="ctr"/>
          <a:lstStyle/>
          <a:p>
            <a:pPr indent="0" marL="0">
              <a:buNone/>
            </a:pPr>
            <a:r>
              <a:rPr lang="en-US" sz="3800" b="1" dirty="0">
                <a:solidFill>
                  <a:srgbClr val="2C6E7F"/>
                </a:solidFill>
                <a:latin typeface="Calibri" pitchFamily="34" charset="0"/>
                <a:ea typeface="Calibri" pitchFamily="34" charset="-122"/>
                <a:cs typeface="Calibri" pitchFamily="34" charset="-120"/>
              </a:rPr>
              <a:t>2.6%</a:t>
            </a:r>
            <a:endParaRPr lang="en-US" sz="3800" dirty="0"/>
          </a:p>
        </p:txBody>
      </p:sp>
      <p:sp>
        <p:nvSpPr>
          <p:cNvPr id="10" name="Text 8"/>
          <p:cNvSpPr/>
          <p:nvPr/>
        </p:nvSpPr>
        <p:spPr>
          <a:xfrm>
            <a:off x="4617720" y="2560320"/>
            <a:ext cx="31546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Overall reject rate</a:t>
            </a:r>
            <a:endParaRPr lang="en-US" sz="1400" dirty="0"/>
          </a:p>
        </p:txBody>
      </p:sp>
      <p:sp>
        <p:nvSpPr>
          <p:cNvPr id="11" name="Text 9"/>
          <p:cNvSpPr/>
          <p:nvPr/>
        </p:nvSpPr>
        <p:spPr>
          <a:xfrm>
            <a:off x="4617720" y="2880360"/>
            <a:ext cx="3154680" cy="502920"/>
          </a:xfrm>
          <a:prstGeom prst="rect">
            <a:avLst/>
          </a:prstGeom>
          <a:noFill/>
          <a:ln/>
        </p:spPr>
        <p:txBody>
          <a:bodyPr wrap="square" rtlCol="0" anchor="t"/>
          <a:lstStyle/>
          <a:p>
            <a:pPr indent="0" marL="0">
              <a:buNone/>
            </a:pPr>
            <a:r>
              <a:rPr lang="en-US" sz="1000" dirty="0">
                <a:solidFill>
                  <a:srgbClr val="6B7280"/>
                </a:solidFill>
                <a:latin typeface="Calibri" pitchFamily="34" charset="0"/>
                <a:ea typeface="Calibri" pitchFamily="34" charset="-122"/>
                <a:cs typeface="Calibri" pitchFamily="34" charset="-120"/>
              </a:rPr>
              <a:t>Rejects as a share of all units made</a:t>
            </a:r>
            <a:endParaRPr lang="en-US" sz="1000" dirty="0"/>
          </a:p>
        </p:txBody>
      </p:sp>
      <p:sp>
        <p:nvSpPr>
          <p:cNvPr id="12" name="Shape 10"/>
          <p:cNvSpPr/>
          <p:nvPr/>
        </p:nvSpPr>
        <p:spPr>
          <a:xfrm>
            <a:off x="8229600" y="1508760"/>
            <a:ext cx="3611880" cy="1965960"/>
          </a:xfrm>
          <a:prstGeom prst="rect">
            <a:avLst/>
          </a:prstGeom>
          <a:solidFill>
            <a:srgbClr val="F4F6F8"/>
          </a:solidFill>
          <a:ln/>
        </p:spPr>
      </p:sp>
      <p:sp>
        <p:nvSpPr>
          <p:cNvPr id="13" name="Text 11"/>
          <p:cNvSpPr/>
          <p:nvPr/>
        </p:nvSpPr>
        <p:spPr>
          <a:xfrm>
            <a:off x="8458200" y="1783080"/>
            <a:ext cx="3154680" cy="777240"/>
          </a:xfrm>
          <a:prstGeom prst="rect">
            <a:avLst/>
          </a:prstGeom>
          <a:noFill/>
          <a:ln/>
        </p:spPr>
        <p:txBody>
          <a:bodyPr wrap="square" rtlCol="0" anchor="ctr"/>
          <a:lstStyle/>
          <a:p>
            <a:pPr indent="0" marL="0">
              <a:buNone/>
            </a:pPr>
            <a:r>
              <a:rPr lang="en-US" sz="3800" b="1" dirty="0">
                <a:solidFill>
                  <a:srgbClr val="B94A48"/>
                </a:solidFill>
                <a:latin typeface="Calibri" pitchFamily="34" charset="0"/>
                <a:ea typeface="Calibri" pitchFamily="34" charset="-122"/>
                <a:cs typeface="Calibri" pitchFamily="34" charset="-120"/>
              </a:rPr>
              <a:t>129,864</a:t>
            </a:r>
            <a:endParaRPr lang="en-US" sz="3800" dirty="0"/>
          </a:p>
        </p:txBody>
      </p:sp>
      <p:sp>
        <p:nvSpPr>
          <p:cNvPr id="14" name="Text 12"/>
          <p:cNvSpPr/>
          <p:nvPr/>
        </p:nvSpPr>
        <p:spPr>
          <a:xfrm>
            <a:off x="8458200" y="2560320"/>
            <a:ext cx="31546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Recorded stoppages</a:t>
            </a:r>
            <a:endParaRPr lang="en-US" sz="1400" dirty="0"/>
          </a:p>
        </p:txBody>
      </p:sp>
      <p:sp>
        <p:nvSpPr>
          <p:cNvPr id="15" name="Text 13"/>
          <p:cNvSpPr/>
          <p:nvPr/>
        </p:nvSpPr>
        <p:spPr>
          <a:xfrm>
            <a:off x="8458200" y="2880360"/>
            <a:ext cx="3154680" cy="502920"/>
          </a:xfrm>
          <a:prstGeom prst="rect">
            <a:avLst/>
          </a:prstGeom>
          <a:noFill/>
          <a:ln/>
        </p:spPr>
        <p:txBody>
          <a:bodyPr wrap="square" rtlCol="0" anchor="t"/>
          <a:lstStyle/>
          <a:p>
            <a:pPr indent="0" marL="0">
              <a:buNone/>
            </a:pPr>
            <a:r>
              <a:rPr lang="en-US" sz="1000" dirty="0">
                <a:solidFill>
                  <a:srgbClr val="6B7280"/>
                </a:solidFill>
                <a:latin typeface="Calibri" pitchFamily="34" charset="0"/>
                <a:ea typeface="Calibri" pitchFamily="34" charset="-122"/>
                <a:cs typeface="Calibri" pitchFamily="34" charset="-120"/>
              </a:rPr>
              <a:t>Totalling 17,088 hours of stopped time</a:t>
            </a:r>
            <a:endParaRPr lang="en-US" sz="1000" dirty="0"/>
          </a:p>
        </p:txBody>
      </p:sp>
      <p:sp>
        <p:nvSpPr>
          <p:cNvPr id="16" name="Shape 14"/>
          <p:cNvSpPr/>
          <p:nvPr/>
        </p:nvSpPr>
        <p:spPr>
          <a:xfrm>
            <a:off x="548640" y="3749040"/>
            <a:ext cx="11064240" cy="2331720"/>
          </a:xfrm>
          <a:prstGeom prst="rect">
            <a:avLst/>
          </a:prstGeom>
          <a:solidFill>
            <a:srgbClr val="1B3A5A"/>
          </a:solidFill>
          <a:ln/>
        </p:spPr>
      </p:sp>
      <p:sp>
        <p:nvSpPr>
          <p:cNvPr id="17" name="Text 15"/>
          <p:cNvSpPr/>
          <p:nvPr/>
        </p:nvSpPr>
        <p:spPr>
          <a:xfrm>
            <a:off x="914400" y="3950208"/>
            <a:ext cx="10332720" cy="320040"/>
          </a:xfrm>
          <a:prstGeom prst="rect">
            <a:avLst/>
          </a:prstGeom>
          <a:noFill/>
          <a:ln/>
        </p:spPr>
        <p:txBody>
          <a:bodyPr wrap="square" rtlCol="0" anchor="ctr"/>
          <a:lstStyle/>
          <a:p>
            <a:pPr indent="0" marL="0">
              <a:buNone/>
            </a:pPr>
            <a:r>
              <a:rPr lang="en-US" sz="1400" b="1" dirty="0">
                <a:solidFill>
                  <a:srgbClr val="F2A65A"/>
                </a:solidFill>
                <a:latin typeface="Calibri" pitchFamily="34" charset="0"/>
                <a:ea typeface="Calibri" pitchFamily="34" charset="-122"/>
                <a:cs typeface="Calibri" pitchFamily="34" charset="-120"/>
              </a:rPr>
              <a:t>The number that stands out</a:t>
            </a:r>
            <a:endParaRPr lang="en-US" sz="1400" dirty="0"/>
          </a:p>
        </p:txBody>
      </p:sp>
      <p:sp>
        <p:nvSpPr>
          <p:cNvPr id="18" name="Text 16"/>
          <p:cNvSpPr/>
          <p:nvPr/>
        </p:nvSpPr>
        <p:spPr>
          <a:xfrm>
            <a:off x="914400" y="4297680"/>
            <a:ext cx="10332720" cy="1645920"/>
          </a:xfrm>
          <a:prstGeom prst="rect">
            <a:avLst/>
          </a:prstGeom>
          <a:noFill/>
          <a:ln/>
        </p:spPr>
        <p:txBody>
          <a:bodyPr wrap="square" rtlCol="0" anchor="t"/>
          <a:lstStyle/>
          <a:p>
            <a:pPr marL="342900" indent="-342900">
              <a:lnSpc>
                <a:spcPct val="130000"/>
              </a:lnSpc>
              <a:buSzPct val="100000"/>
              <a:buChar char="•"/>
            </a:pPr>
            <a:r>
              <a:rPr lang="en-US" sz="1250" dirty="0">
                <a:solidFill>
                  <a:srgbClr val="FFFFFF"/>
                </a:solidFill>
                <a:latin typeface="Calibri" pitchFamily="34" charset="0"/>
                <a:ea typeface="Calibri" pitchFamily="34" charset="-122"/>
                <a:cs typeface="Calibri" pitchFamily="34" charset="-120"/>
              </a:rPr>
              <a:t>129,864 stoppages across roughly 2,485 machine-shifts is an average of 52 stoppages per shift — a very high rate of interruption</a:t>
            </a:r>
            <a:endParaRPr lang="en-US" sz="1250" dirty="0"/>
          </a:p>
          <a:p>
            <a:pPr marL="342900" indent="-342900">
              <a:lnSpc>
                <a:spcPct val="130000"/>
              </a:lnSpc>
              <a:buSzPct val="100000"/>
              <a:buChar char="•"/>
            </a:pPr>
            <a:r>
              <a:rPr lang="en-US" sz="1250" dirty="0">
                <a:solidFill>
                  <a:srgbClr val="FFFFFF"/>
                </a:solidFill>
                <a:latin typeface="Calibri" pitchFamily="34" charset="0"/>
                <a:ea typeface="Calibri" pitchFamily="34" charset="-122"/>
                <a:cs typeface="Calibri" pitchFamily="34" charset="-120"/>
              </a:rPr>
              <a:t>Total stopped time (17,088 hours) exceeds total running time (12,977 hours) — machines spend more of their tracked time halted than producing</a:t>
            </a:r>
            <a:endParaRPr lang="en-US" sz="1250" dirty="0"/>
          </a:p>
          <a:p>
            <a:pPr marL="342900" indent="-342900">
              <a:lnSpc>
                <a:spcPct val="130000"/>
              </a:lnSpc>
              <a:buSzPct val="100000"/>
              <a:buChar char="•"/>
            </a:pPr>
            <a:r>
              <a:rPr lang="en-US" sz="1250" dirty="0">
                <a:solidFill>
                  <a:srgbClr val="FFFFFF"/>
                </a:solidFill>
                <a:latin typeface="Calibri" pitchFamily="34" charset="0"/>
                <a:ea typeface="Calibri" pitchFamily="34" charset="-122"/>
                <a:cs typeface="Calibri" pitchFamily="34" charset="-120"/>
              </a:rPr>
              <a:t>Reject rate at 2.6% is comparatively modest: the constraint here is continuity of running, not quality of output</a:t>
            </a:r>
            <a:endParaRPr lang="en-US" sz="1250" dirty="0"/>
          </a:p>
        </p:txBody>
      </p:sp>
      <p:sp>
        <p:nvSpPr>
          <p:cNvPr id="19" name="Text 1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20" name="Text 1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Reading OEE Correctly</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The same data gives three very different averages — only one is a fair measure</a:t>
            </a:r>
            <a:endParaRPr lang="en-US" sz="1350" dirty="0"/>
          </a:p>
        </p:txBody>
      </p:sp>
      <p:sp>
        <p:nvSpPr>
          <p:cNvPr id="4" name="Shape 2"/>
          <p:cNvSpPr/>
          <p:nvPr/>
        </p:nvSpPr>
        <p:spPr>
          <a:xfrm>
            <a:off x="548640" y="1463040"/>
            <a:ext cx="3611880" cy="2057400"/>
          </a:xfrm>
          <a:prstGeom prst="rect">
            <a:avLst/>
          </a:prstGeom>
          <a:solidFill>
            <a:srgbClr val="F4F6F8"/>
          </a:solidFill>
          <a:ln/>
        </p:spPr>
      </p:sp>
      <p:sp>
        <p:nvSpPr>
          <p:cNvPr id="5" name="Text 3"/>
          <p:cNvSpPr/>
          <p:nvPr/>
        </p:nvSpPr>
        <p:spPr>
          <a:xfrm>
            <a:off x="777240" y="1719072"/>
            <a:ext cx="3154680" cy="777240"/>
          </a:xfrm>
          <a:prstGeom prst="rect">
            <a:avLst/>
          </a:prstGeom>
          <a:noFill/>
          <a:ln/>
        </p:spPr>
        <p:txBody>
          <a:bodyPr wrap="square" rtlCol="0" anchor="ctr"/>
          <a:lstStyle/>
          <a:p>
            <a:pPr indent="0" marL="0">
              <a:buNone/>
            </a:pPr>
            <a:r>
              <a:rPr lang="en-US" sz="3800" b="1" dirty="0">
                <a:solidFill>
                  <a:srgbClr val="6B7280"/>
                </a:solidFill>
                <a:latin typeface="Calibri" pitchFamily="34" charset="0"/>
                <a:ea typeface="Calibri" pitchFamily="34" charset="-122"/>
                <a:cs typeface="Calibri" pitchFamily="34" charset="-120"/>
              </a:rPr>
              <a:t>38.3%</a:t>
            </a:r>
            <a:endParaRPr lang="en-US" sz="3800" dirty="0"/>
          </a:p>
        </p:txBody>
      </p:sp>
      <p:sp>
        <p:nvSpPr>
          <p:cNvPr id="6" name="Text 4"/>
          <p:cNvSpPr/>
          <p:nvPr/>
        </p:nvSpPr>
        <p:spPr>
          <a:xfrm>
            <a:off x="777240" y="2487168"/>
            <a:ext cx="3154680" cy="457200"/>
          </a:xfrm>
          <a:prstGeom prst="rect">
            <a:avLst/>
          </a:prstGeom>
          <a:noFill/>
          <a:ln/>
        </p:spPr>
        <p:txBody>
          <a:bodyPr wrap="square" rtlCol="0" anchor="t"/>
          <a:lstStyle/>
          <a:p>
            <a:pPr indent="0" marL="0">
              <a:buNone/>
            </a:pPr>
            <a:r>
              <a:rPr lang="en-US" sz="1300" b="1" dirty="0">
                <a:solidFill>
                  <a:srgbClr val="12283F"/>
                </a:solidFill>
                <a:latin typeface="Calibri" pitchFamily="34" charset="0"/>
                <a:ea typeface="Calibri" pitchFamily="34" charset="-122"/>
                <a:cs typeface="Calibri" pitchFamily="34" charset="-120"/>
              </a:rPr>
              <a:t>Simple average, all shifts</a:t>
            </a:r>
            <a:endParaRPr lang="en-US" sz="1300" dirty="0"/>
          </a:p>
        </p:txBody>
      </p:sp>
      <p:sp>
        <p:nvSpPr>
          <p:cNvPr id="7" name="Text 5"/>
          <p:cNvSpPr/>
          <p:nvPr/>
        </p:nvSpPr>
        <p:spPr>
          <a:xfrm>
            <a:off x="777240" y="2944368"/>
            <a:ext cx="3154680" cy="548640"/>
          </a:xfrm>
          <a:prstGeom prst="rect">
            <a:avLst/>
          </a:prstGeom>
          <a:noFill/>
          <a:ln/>
        </p:spPr>
        <p:txBody>
          <a:bodyPr wrap="square" rtlCol="0" anchor="t"/>
          <a:lstStyle/>
          <a:p>
            <a:pPr indent="0" marL="0">
              <a:buNone/>
            </a:pPr>
            <a:r>
              <a:rPr lang="en-US" sz="1000" dirty="0">
                <a:solidFill>
                  <a:srgbClr val="6B7280"/>
                </a:solidFill>
                <a:latin typeface="Calibri" pitchFamily="34" charset="0"/>
                <a:ea typeface="Calibri" pitchFamily="34" charset="-122"/>
                <a:cs typeface="Calibri" pitchFamily="34" charset="-120"/>
              </a:rPr>
              <a:t>Includes 659 shifts with no output at all</a:t>
            </a:r>
            <a:endParaRPr lang="en-US" sz="1000" dirty="0"/>
          </a:p>
        </p:txBody>
      </p:sp>
      <p:sp>
        <p:nvSpPr>
          <p:cNvPr id="8" name="Shape 6"/>
          <p:cNvSpPr/>
          <p:nvPr/>
        </p:nvSpPr>
        <p:spPr>
          <a:xfrm>
            <a:off x="4389120" y="1463040"/>
            <a:ext cx="3611880" cy="2057400"/>
          </a:xfrm>
          <a:prstGeom prst="rect">
            <a:avLst/>
          </a:prstGeom>
          <a:solidFill>
            <a:srgbClr val="F4F6F8"/>
          </a:solidFill>
          <a:ln/>
        </p:spPr>
      </p:sp>
      <p:sp>
        <p:nvSpPr>
          <p:cNvPr id="9" name="Text 7"/>
          <p:cNvSpPr/>
          <p:nvPr/>
        </p:nvSpPr>
        <p:spPr>
          <a:xfrm>
            <a:off x="4617720" y="1719072"/>
            <a:ext cx="3154680" cy="777240"/>
          </a:xfrm>
          <a:prstGeom prst="rect">
            <a:avLst/>
          </a:prstGeom>
          <a:noFill/>
          <a:ln/>
        </p:spPr>
        <p:txBody>
          <a:bodyPr wrap="square" rtlCol="0" anchor="ctr"/>
          <a:lstStyle/>
          <a:p>
            <a:pPr indent="0" marL="0">
              <a:buNone/>
            </a:pPr>
            <a:r>
              <a:rPr lang="en-US" sz="3800" b="1" dirty="0">
                <a:solidFill>
                  <a:srgbClr val="D97706"/>
                </a:solidFill>
                <a:latin typeface="Calibri" pitchFamily="34" charset="0"/>
                <a:ea typeface="Calibri" pitchFamily="34" charset="-122"/>
                <a:cs typeface="Calibri" pitchFamily="34" charset="-120"/>
              </a:rPr>
              <a:t>52.2%</a:t>
            </a:r>
            <a:endParaRPr lang="en-US" sz="3800" dirty="0"/>
          </a:p>
        </p:txBody>
      </p:sp>
      <p:sp>
        <p:nvSpPr>
          <p:cNvPr id="10" name="Text 8"/>
          <p:cNvSpPr/>
          <p:nvPr/>
        </p:nvSpPr>
        <p:spPr>
          <a:xfrm>
            <a:off x="4617720" y="2487168"/>
            <a:ext cx="3154680" cy="457200"/>
          </a:xfrm>
          <a:prstGeom prst="rect">
            <a:avLst/>
          </a:prstGeom>
          <a:noFill/>
          <a:ln/>
        </p:spPr>
        <p:txBody>
          <a:bodyPr wrap="square" rtlCol="0" anchor="t"/>
          <a:lstStyle/>
          <a:p>
            <a:pPr indent="0" marL="0">
              <a:buNone/>
            </a:pPr>
            <a:r>
              <a:rPr lang="en-US" sz="1300" b="1" dirty="0">
                <a:solidFill>
                  <a:srgbClr val="12283F"/>
                </a:solidFill>
                <a:latin typeface="Calibri" pitchFamily="34" charset="0"/>
                <a:ea typeface="Calibri" pitchFamily="34" charset="-122"/>
                <a:cs typeface="Calibri" pitchFamily="34" charset="-120"/>
              </a:rPr>
              <a:t>Simple average, producing shifts</a:t>
            </a:r>
            <a:endParaRPr lang="en-US" sz="1300" dirty="0"/>
          </a:p>
        </p:txBody>
      </p:sp>
      <p:sp>
        <p:nvSpPr>
          <p:cNvPr id="11" name="Text 9"/>
          <p:cNvSpPr/>
          <p:nvPr/>
        </p:nvSpPr>
        <p:spPr>
          <a:xfrm>
            <a:off x="4617720" y="2944368"/>
            <a:ext cx="3154680" cy="548640"/>
          </a:xfrm>
          <a:prstGeom prst="rect">
            <a:avLst/>
          </a:prstGeom>
          <a:noFill/>
          <a:ln/>
        </p:spPr>
        <p:txBody>
          <a:bodyPr wrap="square" rtlCol="0" anchor="t"/>
          <a:lstStyle/>
          <a:p>
            <a:pPr indent="0" marL="0">
              <a:buNone/>
            </a:pPr>
            <a:r>
              <a:rPr lang="en-US" sz="1000" dirty="0">
                <a:solidFill>
                  <a:srgbClr val="6B7280"/>
                </a:solidFill>
                <a:latin typeface="Calibri" pitchFamily="34" charset="0"/>
                <a:ea typeface="Calibri" pitchFamily="34" charset="-122"/>
                <a:cs typeface="Calibri" pitchFamily="34" charset="-120"/>
              </a:rPr>
              <a:t>Still treats a 2-unit shift and a 20,000-unit shift equally</a:t>
            </a:r>
            <a:endParaRPr lang="en-US" sz="1000" dirty="0"/>
          </a:p>
        </p:txBody>
      </p:sp>
      <p:sp>
        <p:nvSpPr>
          <p:cNvPr id="12" name="Shape 10"/>
          <p:cNvSpPr/>
          <p:nvPr/>
        </p:nvSpPr>
        <p:spPr>
          <a:xfrm>
            <a:off x="8229600" y="1463040"/>
            <a:ext cx="3611880" cy="2057400"/>
          </a:xfrm>
          <a:prstGeom prst="rect">
            <a:avLst/>
          </a:prstGeom>
          <a:solidFill>
            <a:srgbClr val="F4F6F8"/>
          </a:solidFill>
          <a:ln/>
        </p:spPr>
      </p:sp>
      <p:sp>
        <p:nvSpPr>
          <p:cNvPr id="13" name="Text 11"/>
          <p:cNvSpPr/>
          <p:nvPr/>
        </p:nvSpPr>
        <p:spPr>
          <a:xfrm>
            <a:off x="8458200" y="1719072"/>
            <a:ext cx="3154680" cy="777240"/>
          </a:xfrm>
          <a:prstGeom prst="rect">
            <a:avLst/>
          </a:prstGeom>
          <a:noFill/>
          <a:ln/>
        </p:spPr>
        <p:txBody>
          <a:bodyPr wrap="square" rtlCol="0" anchor="ctr"/>
          <a:lstStyle/>
          <a:p>
            <a:pPr indent="0" marL="0">
              <a:buNone/>
            </a:pPr>
            <a:r>
              <a:rPr lang="en-US" sz="3800" b="1" dirty="0">
                <a:solidFill>
                  <a:srgbClr val="3E7A4E"/>
                </a:solidFill>
                <a:latin typeface="Calibri" pitchFamily="34" charset="0"/>
                <a:ea typeface="Calibri" pitchFamily="34" charset="-122"/>
                <a:cs typeface="Calibri" pitchFamily="34" charset="-120"/>
              </a:rPr>
              <a:t>68.1%</a:t>
            </a:r>
            <a:endParaRPr lang="en-US" sz="3800" dirty="0"/>
          </a:p>
        </p:txBody>
      </p:sp>
      <p:sp>
        <p:nvSpPr>
          <p:cNvPr id="14" name="Text 12"/>
          <p:cNvSpPr/>
          <p:nvPr/>
        </p:nvSpPr>
        <p:spPr>
          <a:xfrm>
            <a:off x="8458200" y="2487168"/>
            <a:ext cx="3154680" cy="457200"/>
          </a:xfrm>
          <a:prstGeom prst="rect">
            <a:avLst/>
          </a:prstGeom>
          <a:noFill/>
          <a:ln/>
        </p:spPr>
        <p:txBody>
          <a:bodyPr wrap="square" rtlCol="0" anchor="t"/>
          <a:lstStyle/>
          <a:p>
            <a:pPr indent="0" marL="0">
              <a:buNone/>
            </a:pPr>
            <a:r>
              <a:rPr lang="en-US" sz="1300" b="1" dirty="0">
                <a:solidFill>
                  <a:srgbClr val="12283F"/>
                </a:solidFill>
                <a:latin typeface="Calibri" pitchFamily="34" charset="0"/>
                <a:ea typeface="Calibri" pitchFamily="34" charset="-122"/>
                <a:cs typeface="Calibri" pitchFamily="34" charset="-120"/>
              </a:rPr>
              <a:t>Volume-weighted average</a:t>
            </a:r>
            <a:endParaRPr lang="en-US" sz="1300" dirty="0"/>
          </a:p>
        </p:txBody>
      </p:sp>
      <p:sp>
        <p:nvSpPr>
          <p:cNvPr id="15" name="Text 13"/>
          <p:cNvSpPr/>
          <p:nvPr/>
        </p:nvSpPr>
        <p:spPr>
          <a:xfrm>
            <a:off x="8458200" y="2944368"/>
            <a:ext cx="3154680" cy="548640"/>
          </a:xfrm>
          <a:prstGeom prst="rect">
            <a:avLst/>
          </a:prstGeom>
          <a:noFill/>
          <a:ln/>
        </p:spPr>
        <p:txBody>
          <a:bodyPr wrap="square" rtlCol="0" anchor="t"/>
          <a:lstStyle/>
          <a:p>
            <a:pPr indent="0" marL="0">
              <a:buNone/>
            </a:pPr>
            <a:r>
              <a:rPr lang="en-US" sz="1000" dirty="0">
                <a:solidFill>
                  <a:srgbClr val="6B7280"/>
                </a:solidFill>
                <a:latin typeface="Calibri" pitchFamily="34" charset="0"/>
                <a:ea typeface="Calibri" pitchFamily="34" charset="-122"/>
                <a:cs typeface="Calibri" pitchFamily="34" charset="-120"/>
              </a:rPr>
              <a:t>Each shift counts in proportion to what it produced</a:t>
            </a:r>
            <a:endParaRPr lang="en-US" sz="1000" dirty="0"/>
          </a:p>
        </p:txBody>
      </p:sp>
      <p:sp>
        <p:nvSpPr>
          <p:cNvPr id="16" name="Shape 14"/>
          <p:cNvSpPr/>
          <p:nvPr/>
        </p:nvSpPr>
        <p:spPr>
          <a:xfrm>
            <a:off x="548640" y="3794760"/>
            <a:ext cx="11064240" cy="2286000"/>
          </a:xfrm>
          <a:prstGeom prst="rect">
            <a:avLst/>
          </a:prstGeom>
          <a:solidFill>
            <a:srgbClr val="1B3A5A"/>
          </a:solidFill>
          <a:ln/>
        </p:spPr>
      </p:sp>
      <p:sp>
        <p:nvSpPr>
          <p:cNvPr id="17" name="Text 15"/>
          <p:cNvSpPr/>
          <p:nvPr/>
        </p:nvSpPr>
        <p:spPr>
          <a:xfrm>
            <a:off x="914400" y="4005072"/>
            <a:ext cx="10332720" cy="320040"/>
          </a:xfrm>
          <a:prstGeom prst="rect">
            <a:avLst/>
          </a:prstGeom>
          <a:noFill/>
          <a:ln/>
        </p:spPr>
        <p:txBody>
          <a:bodyPr wrap="square" rtlCol="0" anchor="ctr"/>
          <a:lstStyle/>
          <a:p>
            <a:pPr indent="0" marL="0">
              <a:buNone/>
            </a:pPr>
            <a:r>
              <a:rPr lang="en-US" sz="1400" b="1" dirty="0">
                <a:solidFill>
                  <a:srgbClr val="F2A65A"/>
                </a:solidFill>
                <a:latin typeface="Calibri" pitchFamily="34" charset="0"/>
                <a:ea typeface="Calibri" pitchFamily="34" charset="-122"/>
                <a:cs typeface="Calibri" pitchFamily="34" charset="-120"/>
              </a:rPr>
              <a:t>Why the weighted figure is the one to use</a:t>
            </a:r>
            <a:endParaRPr lang="en-US" sz="1400" dirty="0"/>
          </a:p>
        </p:txBody>
      </p:sp>
      <p:sp>
        <p:nvSpPr>
          <p:cNvPr id="18" name="Text 16"/>
          <p:cNvSpPr/>
          <p:nvPr/>
        </p:nvSpPr>
        <p:spPr>
          <a:xfrm>
            <a:off x="914400" y="4343400"/>
            <a:ext cx="10332720" cy="1645920"/>
          </a:xfrm>
          <a:prstGeom prst="rect">
            <a:avLst/>
          </a:prstGeom>
          <a:noFill/>
          <a:ln/>
        </p:spPr>
        <p:txBody>
          <a:bodyPr wrap="square" rtlCol="0" anchor="t"/>
          <a:lstStyle/>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Many shifts record only a handful of units — part-shifts, changeovers, or run tails. Their OEE is legitimately near zero, but they represent almost no production</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A simple average lets those tiny shifts weigh as heavily as a full production shift, dragging the plant figure down by 16 percentage points</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Weighting by units produced gives each shift influence proportional to its actual output — the difference between 52% and 68% is entirely method, not performance</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Every line-level comparison in this deck uses the weighted figure</a:t>
            </a:r>
            <a:endParaRPr lang="en-US" sz="1200" dirty="0"/>
          </a:p>
        </p:txBody>
      </p:sp>
      <p:sp>
        <p:nvSpPr>
          <p:cNvPr id="19" name="Text 1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20" name="Text 1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Line Performance</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Weighted OEE and reject rate across the six primary lines</a:t>
            </a:r>
            <a:endParaRPr lang="en-US" sz="1350" dirty="0"/>
          </a:p>
        </p:txBody>
      </p:sp>
      <p:graphicFrame>
        <p:nvGraphicFramePr>
          <p:cNvPr id="4" name="Chart 0" descr=""/>
          <p:cNvGraphicFramePr/>
          <p:nvPr/>
        </p:nvGraphicFramePr>
        <p:xfrm>
          <a:off x="502920" y="146304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46304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486400"/>
            <a:ext cx="11064240" cy="868680"/>
          </a:xfrm>
          <a:prstGeom prst="rect">
            <a:avLst/>
          </a:prstGeom>
          <a:solidFill>
            <a:srgbClr val="F4F6F8"/>
          </a:solidFill>
          <a:ln/>
        </p:spPr>
      </p:sp>
      <p:sp>
        <p:nvSpPr>
          <p:cNvPr id="7" name="Text 3"/>
          <p:cNvSpPr/>
          <p:nvPr/>
        </p:nvSpPr>
        <p:spPr>
          <a:xfrm>
            <a:off x="868680" y="5596128"/>
            <a:ext cx="10515600" cy="274320"/>
          </a:xfrm>
          <a:prstGeom prst="rect">
            <a:avLst/>
          </a:prstGeom>
          <a:noFill/>
          <a:ln/>
        </p:spPr>
        <p:txBody>
          <a:bodyPr wrap="square" rtlCol="0" anchor="ctr"/>
          <a:lstStyle/>
          <a:p>
            <a:pPr indent="0" marL="0">
              <a:buNone/>
            </a:pPr>
            <a:r>
              <a:rPr lang="en-US" sz="1250" b="1" dirty="0">
                <a:solidFill>
                  <a:srgbClr val="12283F"/>
                </a:solidFill>
                <a:latin typeface="Calibri" pitchFamily="34" charset="0"/>
                <a:ea typeface="Calibri" pitchFamily="34" charset="-122"/>
                <a:cs typeface="Calibri" pitchFamily="34" charset="-120"/>
              </a:rPr>
              <a:t>The lines perform far more alike than raw figures suggest</a:t>
            </a:r>
            <a:endParaRPr lang="en-US" sz="1250" dirty="0"/>
          </a:p>
        </p:txBody>
      </p:sp>
      <p:sp>
        <p:nvSpPr>
          <p:cNvPr id="8" name="Text 4"/>
          <p:cNvSpPr/>
          <p:nvPr/>
        </p:nvSpPr>
        <p:spPr>
          <a:xfrm>
            <a:off x="868680" y="5870448"/>
            <a:ext cx="10515600" cy="4114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Once weighted, all six primary lines sit within a 7-point band (64.7% to 71.8%). MC7 leads on efficiency; MC1 has both the lowest OEE and the highest reject rate, making it the clearest improvement candidate. MC8's 0.00% reject rate is addressed on the next slide.</a:t>
            </a:r>
            <a:endParaRPr lang="en-US" sz="1050" dirty="0"/>
          </a:p>
        </p:txBody>
      </p:sp>
      <p:sp>
        <p:nvSpPr>
          <p:cNvPr id="9"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0" name="Text 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A Data Gap That Changes a Conclusion</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MC8 records zero rejects — but that is not the same as producing none</a:t>
            </a:r>
            <a:endParaRPr lang="en-US" sz="1350" dirty="0"/>
          </a:p>
        </p:txBody>
      </p:sp>
      <p:sp>
        <p:nvSpPr>
          <p:cNvPr id="4" name="Shape 2"/>
          <p:cNvSpPr/>
          <p:nvPr/>
        </p:nvSpPr>
        <p:spPr>
          <a:xfrm>
            <a:off x="548640" y="1463040"/>
            <a:ext cx="5349240" cy="2377440"/>
          </a:xfrm>
          <a:prstGeom prst="rect">
            <a:avLst/>
          </a:prstGeom>
          <a:solidFill>
            <a:srgbClr val="F4F6F8"/>
          </a:solidFill>
          <a:ln/>
        </p:spPr>
      </p:sp>
      <p:sp>
        <p:nvSpPr>
          <p:cNvPr id="5" name="Text 3"/>
          <p:cNvSpPr/>
          <p:nvPr/>
        </p:nvSpPr>
        <p:spPr>
          <a:xfrm>
            <a:off x="868680" y="1645920"/>
            <a:ext cx="4754880" cy="292608"/>
          </a:xfrm>
          <a:prstGeom prst="rect">
            <a:avLst/>
          </a:prstGeom>
          <a:noFill/>
          <a:ln/>
        </p:spPr>
        <p:txBody>
          <a:bodyPr wrap="square" rtlCol="0" anchor="ctr"/>
          <a:lstStyle/>
          <a:p>
            <a:pPr indent="0" marL="0">
              <a:buNone/>
            </a:pPr>
            <a:r>
              <a:rPr lang="en-US" sz="1350" b="1" dirty="0">
                <a:solidFill>
                  <a:srgbClr val="12283F"/>
                </a:solidFill>
                <a:latin typeface="Calibri" pitchFamily="34" charset="0"/>
                <a:ea typeface="Calibri" pitchFamily="34" charset="-122"/>
                <a:cs typeface="Calibri" pitchFamily="34" charset="-120"/>
              </a:rPr>
              <a:t>What the data says</a:t>
            </a:r>
            <a:endParaRPr lang="en-US" sz="1350" dirty="0"/>
          </a:p>
        </p:txBody>
      </p:sp>
      <p:sp>
        <p:nvSpPr>
          <p:cNvPr id="6" name="Text 4"/>
          <p:cNvSpPr/>
          <p:nvPr/>
        </p:nvSpPr>
        <p:spPr>
          <a:xfrm>
            <a:off x="868680" y="1993392"/>
            <a:ext cx="4754880" cy="1737360"/>
          </a:xfrm>
          <a:prstGeom prst="rect">
            <a:avLst/>
          </a:prstGeom>
          <a:noFill/>
          <a:ln/>
        </p:spPr>
        <p:txBody>
          <a:bodyPr wrap="square" rtlCol="0" anchor="t"/>
          <a:lstStyle/>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MC8 produced 2,517,458 good units across 355 shifts</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Rejects recorded: zero, on every single shift</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Yet 958 kg of waste IS recorded against MC8</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And its Waste % field shows real values — 1.98%, 1.37%, 2.13% and so on</a:t>
            </a:r>
            <a:endParaRPr lang="en-US" sz="1150" dirty="0"/>
          </a:p>
        </p:txBody>
      </p:sp>
      <p:sp>
        <p:nvSpPr>
          <p:cNvPr id="7" name="Shape 5"/>
          <p:cNvSpPr/>
          <p:nvPr/>
        </p:nvSpPr>
        <p:spPr>
          <a:xfrm>
            <a:off x="6263640" y="1463040"/>
            <a:ext cx="5349240" cy="2377440"/>
          </a:xfrm>
          <a:prstGeom prst="rect">
            <a:avLst/>
          </a:prstGeom>
          <a:solidFill>
            <a:srgbClr val="F4F6F8"/>
          </a:solidFill>
          <a:ln/>
        </p:spPr>
      </p:sp>
      <p:sp>
        <p:nvSpPr>
          <p:cNvPr id="8" name="Text 6"/>
          <p:cNvSpPr/>
          <p:nvPr/>
        </p:nvSpPr>
        <p:spPr>
          <a:xfrm>
            <a:off x="6583680" y="1645920"/>
            <a:ext cx="4754880" cy="292608"/>
          </a:xfrm>
          <a:prstGeom prst="rect">
            <a:avLst/>
          </a:prstGeom>
          <a:noFill/>
          <a:ln/>
        </p:spPr>
        <p:txBody>
          <a:bodyPr wrap="square" rtlCol="0" anchor="ctr"/>
          <a:lstStyle/>
          <a:p>
            <a:pPr indent="0" marL="0">
              <a:buNone/>
            </a:pPr>
            <a:r>
              <a:rPr lang="en-US" sz="1350" b="1" dirty="0">
                <a:solidFill>
                  <a:srgbClr val="B94A48"/>
                </a:solidFill>
                <a:latin typeface="Calibri" pitchFamily="34" charset="0"/>
                <a:ea typeface="Calibri" pitchFamily="34" charset="-122"/>
                <a:cs typeface="Calibri" pitchFamily="34" charset="-120"/>
              </a:rPr>
              <a:t>What that means</a:t>
            </a:r>
            <a:endParaRPr lang="en-US" sz="1350" dirty="0"/>
          </a:p>
        </p:txBody>
      </p:sp>
      <p:sp>
        <p:nvSpPr>
          <p:cNvPr id="9" name="Text 7"/>
          <p:cNvSpPr/>
          <p:nvPr/>
        </p:nvSpPr>
        <p:spPr>
          <a:xfrm>
            <a:off x="6583680" y="1993392"/>
            <a:ext cx="4754880" cy="1737360"/>
          </a:xfrm>
          <a:prstGeom prst="rect">
            <a:avLst/>
          </a:prstGeom>
          <a:noFill/>
          <a:ln/>
        </p:spPr>
        <p:txBody>
          <a:bodyPr wrap="square" rtlCol="0" anchor="t"/>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Waste is clearly occurring on MC8 — it is being weighed and it is being expressed as a percentage. The reject count simply is not being captured. A zero here is a missing measurement, not a perfect line.</a:t>
            </a:r>
            <a:endParaRPr lang="en-US" sz="1150" dirty="0"/>
          </a:p>
        </p:txBody>
      </p:sp>
      <p:sp>
        <p:nvSpPr>
          <p:cNvPr id="10" name="Shape 8"/>
          <p:cNvSpPr/>
          <p:nvPr/>
        </p:nvSpPr>
        <p:spPr>
          <a:xfrm>
            <a:off x="548640" y="4069080"/>
            <a:ext cx="11064240" cy="2011680"/>
          </a:xfrm>
          <a:prstGeom prst="rect">
            <a:avLst/>
          </a:prstGeom>
          <a:solidFill>
            <a:srgbClr val="1B3A5A"/>
          </a:solidFill>
          <a:ln/>
        </p:spPr>
      </p:sp>
      <p:sp>
        <p:nvSpPr>
          <p:cNvPr id="11" name="Text 9"/>
          <p:cNvSpPr/>
          <p:nvPr/>
        </p:nvSpPr>
        <p:spPr>
          <a:xfrm>
            <a:off x="914400" y="4279392"/>
            <a:ext cx="10332720" cy="320040"/>
          </a:xfrm>
          <a:prstGeom prst="rect">
            <a:avLst/>
          </a:prstGeom>
          <a:noFill/>
          <a:ln/>
        </p:spPr>
        <p:txBody>
          <a:bodyPr wrap="square" rtlCol="0" anchor="ctr"/>
          <a:lstStyle/>
          <a:p>
            <a:pPr indent="0" marL="0">
              <a:buNone/>
            </a:pPr>
            <a:r>
              <a:rPr lang="en-US" sz="1400" b="1" dirty="0">
                <a:solidFill>
                  <a:srgbClr val="F2A65A"/>
                </a:solidFill>
                <a:latin typeface="Calibri" pitchFamily="34" charset="0"/>
                <a:ea typeface="Calibri" pitchFamily="34" charset="-122"/>
                <a:cs typeface="Calibri" pitchFamily="34" charset="-120"/>
              </a:rPr>
              <a:t>Why this matters for the analysis</a:t>
            </a:r>
            <a:endParaRPr lang="en-US" sz="1400" dirty="0"/>
          </a:p>
        </p:txBody>
      </p:sp>
      <p:sp>
        <p:nvSpPr>
          <p:cNvPr id="12" name="Text 10"/>
          <p:cNvSpPr/>
          <p:nvPr/>
        </p:nvSpPr>
        <p:spPr>
          <a:xfrm>
            <a:off x="914400" y="4617720"/>
            <a:ext cx="10332720" cy="1371600"/>
          </a:xfrm>
          <a:prstGeom prst="rect">
            <a:avLst/>
          </a:prstGeom>
          <a:noFill/>
          <a:ln/>
        </p:spPr>
        <p:txBody>
          <a:bodyPr wrap="square" rtlCol="0" anchor="t"/>
          <a:lstStyle/>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Taken at face value, MC8 would rank as the best line in the plant on quality — the exact opposite of the truth if its rejects were being counted</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MC8 is therefore excluded from reject-rate comparisons in this review rather than presented as a top performer</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This is worth fixing at source: without a reject count, MC8 cannot be quality-benchmarked against the other lines at all</a:t>
            </a:r>
            <a:endParaRPr lang="en-US" sz="1200" dirty="0"/>
          </a:p>
        </p:txBody>
      </p:sp>
      <p:sp>
        <p:nvSpPr>
          <p:cNvPr id="13" name="Text 1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4" name="Text 12"/>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Downtime &amp; Stoppage Patterns</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Same total downtime, entirely different causes — average minutes lost per stoppage</a:t>
            </a:r>
            <a:endParaRPr lang="en-US" sz="1350" dirty="0"/>
          </a:p>
        </p:txBody>
      </p:sp>
      <p:graphicFrame>
        <p:nvGraphicFramePr>
          <p:cNvPr id="4" name="Chart 0" descr=""/>
          <p:cNvGraphicFramePr/>
          <p:nvPr/>
        </p:nvGraphicFramePr>
        <p:xfrm>
          <a:off x="548640" y="1463040"/>
          <a:ext cx="1106424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166360"/>
            <a:ext cx="5349240" cy="1188720"/>
          </a:xfrm>
          <a:prstGeom prst="rect">
            <a:avLst/>
          </a:prstGeom>
          <a:solidFill>
            <a:srgbClr val="F4F6F8"/>
          </a:solidFill>
          <a:ln/>
        </p:spPr>
      </p:sp>
      <p:sp>
        <p:nvSpPr>
          <p:cNvPr id="6" name="Text 3"/>
          <p:cNvSpPr/>
          <p:nvPr/>
        </p:nvSpPr>
        <p:spPr>
          <a:xfrm>
            <a:off x="868680" y="5285232"/>
            <a:ext cx="4754880" cy="274320"/>
          </a:xfrm>
          <a:prstGeom prst="rect">
            <a:avLst/>
          </a:prstGeom>
          <a:noFill/>
          <a:ln/>
        </p:spPr>
        <p:txBody>
          <a:bodyPr wrap="square"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Micro-stoppage lines</a:t>
            </a:r>
            <a:endParaRPr lang="en-US" sz="1250" dirty="0"/>
          </a:p>
        </p:txBody>
      </p:sp>
      <p:sp>
        <p:nvSpPr>
          <p:cNvPr id="7" name="Text 4"/>
          <p:cNvSpPr/>
          <p:nvPr/>
        </p:nvSpPr>
        <p:spPr>
          <a:xfrm>
            <a:off x="868680" y="5559552"/>
            <a:ext cx="4754880" cy="73152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MC5 stopped 41,132 times averaging 3.4 minutes each. MC8 and Family D follow the same pattern. These point to feed, jamming or handling issues — frequent, small interruptions.</a:t>
            </a:r>
            <a:endParaRPr lang="en-US" sz="1050" dirty="0"/>
          </a:p>
        </p:txBody>
      </p:sp>
      <p:sp>
        <p:nvSpPr>
          <p:cNvPr id="8" name="Shape 5"/>
          <p:cNvSpPr/>
          <p:nvPr/>
        </p:nvSpPr>
        <p:spPr>
          <a:xfrm>
            <a:off x="6263640" y="5166360"/>
            <a:ext cx="5349240" cy="1188720"/>
          </a:xfrm>
          <a:prstGeom prst="rect">
            <a:avLst/>
          </a:prstGeom>
          <a:solidFill>
            <a:srgbClr val="F4F6F8"/>
          </a:solidFill>
          <a:ln/>
        </p:spPr>
      </p:sp>
      <p:sp>
        <p:nvSpPr>
          <p:cNvPr id="9" name="Text 6"/>
          <p:cNvSpPr/>
          <p:nvPr/>
        </p:nvSpPr>
        <p:spPr>
          <a:xfrm>
            <a:off x="6583680" y="5285232"/>
            <a:ext cx="4754880" cy="274320"/>
          </a:xfrm>
          <a:prstGeom prst="rect">
            <a:avLst/>
          </a:prstGeom>
          <a:noFill/>
          <a:ln/>
        </p:spPr>
        <p:txBody>
          <a:bodyPr wrap="square" rtlCol="0" anchor="ctr"/>
          <a:lstStyle/>
          <a:p>
            <a:pPr indent="0" marL="0">
              <a:buNone/>
            </a:pPr>
            <a:r>
              <a:rPr lang="en-US" sz="1250" b="1" dirty="0">
                <a:solidFill>
                  <a:srgbClr val="2C6E7F"/>
                </a:solidFill>
                <a:latin typeface="Calibri" pitchFamily="34" charset="0"/>
                <a:ea typeface="Calibri" pitchFamily="34" charset="-122"/>
                <a:cs typeface="Calibri" pitchFamily="34" charset="-120"/>
              </a:rPr>
              <a:t>Major-breakdown lines</a:t>
            </a:r>
            <a:endParaRPr lang="en-US" sz="1250" dirty="0"/>
          </a:p>
        </p:txBody>
      </p:sp>
      <p:sp>
        <p:nvSpPr>
          <p:cNvPr id="10" name="Text 7"/>
          <p:cNvSpPr/>
          <p:nvPr/>
        </p:nvSpPr>
        <p:spPr>
          <a:xfrm>
            <a:off x="6583680" y="5559552"/>
            <a:ext cx="4754880" cy="73152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MC2 stopped only 2,376 times but averaged 60 minutes per stop. MC3 is similar at 39 minutes. These look like fewer, heavier events — breakdowns or long changeovers.</a:t>
            </a:r>
            <a:endParaRPr lang="en-US" sz="10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2" name="Text 9"/>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Where Time Actually Goes</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Stopped time as a share of total tracked time, by line</a:t>
            </a:r>
            <a:endParaRPr lang="en-US" sz="1350" dirty="0"/>
          </a:p>
        </p:txBody>
      </p:sp>
      <p:graphicFrame>
        <p:nvGraphicFramePr>
          <p:cNvPr id="4" name="Chart 0" descr=""/>
          <p:cNvGraphicFramePr/>
          <p:nvPr/>
        </p:nvGraphicFramePr>
        <p:xfrm>
          <a:off x="502920" y="1463040"/>
          <a:ext cx="70408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463040"/>
            <a:ext cx="3840480" cy="4206240"/>
          </a:xfrm>
          <a:prstGeom prst="rect">
            <a:avLst/>
          </a:prstGeom>
          <a:solidFill>
            <a:srgbClr val="1B3A5A"/>
          </a:solidFill>
          <a:ln/>
        </p:spPr>
      </p:sp>
      <p:sp>
        <p:nvSpPr>
          <p:cNvPr id="6" name="Text 3"/>
          <p:cNvSpPr/>
          <p:nvPr/>
        </p:nvSpPr>
        <p:spPr>
          <a:xfrm>
            <a:off x="8046720" y="1691640"/>
            <a:ext cx="3291840" cy="320040"/>
          </a:xfrm>
          <a:prstGeom prst="rect">
            <a:avLst/>
          </a:prstGeom>
          <a:noFill/>
          <a:ln/>
        </p:spPr>
        <p:txBody>
          <a:bodyPr wrap="square" rtlCol="0" anchor="ctr"/>
          <a:lstStyle/>
          <a:p>
            <a:pPr indent="0" marL="0">
              <a:buNone/>
            </a:pPr>
            <a:r>
              <a:rPr lang="en-US" sz="1350" b="1" dirty="0">
                <a:solidFill>
                  <a:srgbClr val="F2A65A"/>
                </a:solidFill>
                <a:latin typeface="Calibri" pitchFamily="34" charset="0"/>
                <a:ea typeface="Calibri" pitchFamily="34" charset="-122"/>
                <a:cs typeface="Calibri" pitchFamily="34" charset="-120"/>
              </a:rPr>
              <a:t>Reading this chart</a:t>
            </a:r>
            <a:endParaRPr lang="en-US" sz="1350" dirty="0"/>
          </a:p>
        </p:txBody>
      </p:sp>
      <p:sp>
        <p:nvSpPr>
          <p:cNvPr id="7" name="Text 4"/>
          <p:cNvSpPr/>
          <p:nvPr/>
        </p:nvSpPr>
        <p:spPr>
          <a:xfrm>
            <a:off x="8046720" y="2057400"/>
            <a:ext cx="3291840" cy="3520440"/>
          </a:xfrm>
          <a:prstGeom prst="rect">
            <a:avLst/>
          </a:prstGeom>
          <a:noFill/>
          <a:ln/>
        </p:spPr>
        <p:txBody>
          <a:bodyPr wrap="square" rtlCol="0" anchor="t"/>
          <a:lstStyle/>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Family D 2nd Machine is by far the best utilised at 32.6% downtime — less than half the rate of MC8</a:t>
            </a:r>
            <a:endParaRPr lang="en-US" sz="1150" dirty="0"/>
          </a:p>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MC8 and MC1 lose roughly three quarters of their tracked time, and also have the most shifts with no output at all (173 and 182 respectively)</a:t>
            </a:r>
            <a:endParaRPr lang="en-US" sz="1150" dirty="0"/>
          </a:p>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That combination suggests these two lines are under-scheduled rather than under-performing</a:t>
            </a:r>
            <a:endParaRPr lang="en-US" sz="1150" dirty="0"/>
          </a:p>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Confirming whether this is demand-driven or a scheduling constraint should come before any technical intervention</a:t>
            </a:r>
            <a:endParaRPr lang="en-US" sz="1150" dirty="0"/>
          </a:p>
        </p:txBody>
      </p:sp>
      <p:sp>
        <p:nvSpPr>
          <p:cNvPr id="8"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9" name="Text 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Performance Over Time</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Weekly volume-weighted OEE across the seven active lines</a:t>
            </a:r>
            <a:endParaRPr lang="en-US" sz="1350" dirty="0"/>
          </a:p>
        </p:txBody>
      </p:sp>
      <p:graphicFrame>
        <p:nvGraphicFramePr>
          <p:cNvPr id="4" name="Chart 0" descr=""/>
          <p:cNvGraphicFramePr/>
          <p:nvPr/>
        </p:nvGraphicFramePr>
        <p:xfrm>
          <a:off x="548640" y="1463040"/>
          <a:ext cx="1106424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120640"/>
            <a:ext cx="5349240" cy="1234440"/>
          </a:xfrm>
          <a:prstGeom prst="rect">
            <a:avLst/>
          </a:prstGeom>
          <a:solidFill>
            <a:srgbClr val="F4F6F8"/>
          </a:solidFill>
          <a:ln/>
        </p:spPr>
      </p:sp>
      <p:sp>
        <p:nvSpPr>
          <p:cNvPr id="6" name="Text 3"/>
          <p:cNvSpPr/>
          <p:nvPr/>
        </p:nvSpPr>
        <p:spPr>
          <a:xfrm>
            <a:off x="868680" y="5248656"/>
            <a:ext cx="4754880" cy="274320"/>
          </a:xfrm>
          <a:prstGeom prst="rect">
            <a:avLst/>
          </a:prstGeom>
          <a:noFill/>
          <a:ln/>
        </p:spPr>
        <p:txBody>
          <a:bodyPr wrap="square" rtlCol="0" anchor="ctr"/>
          <a:lstStyle/>
          <a:p>
            <a:pPr indent="0" marL="0">
              <a:buNone/>
            </a:pPr>
            <a:r>
              <a:rPr lang="en-US" sz="1250" b="1" dirty="0">
                <a:solidFill>
                  <a:srgbClr val="2C6E7F"/>
                </a:solidFill>
                <a:latin typeface="Calibri" pitchFamily="34" charset="0"/>
                <a:ea typeface="Calibri" pitchFamily="34" charset="-122"/>
                <a:cs typeface="Calibri" pitchFamily="34" charset="-120"/>
              </a:rPr>
              <a:t>Assembly kept running over Easter</a:t>
            </a:r>
            <a:endParaRPr lang="en-US" sz="1250" dirty="0"/>
          </a:p>
        </p:txBody>
      </p:sp>
      <p:sp>
        <p:nvSpPr>
          <p:cNvPr id="7" name="Text 4"/>
          <p:cNvSpPr/>
          <p:nvPr/>
        </p:nvSpPr>
        <p:spPr>
          <a:xfrm>
            <a:off x="868680" y="5522976"/>
            <a:ext cx="4754880" cy="77724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Over the Easter weekend (3–7 April) output continued at reduced strength — dropping to two producing lines on 4–5 April rather than stopping entirely. Worth confirming this reflects planned skeleton cover.</a:t>
            </a:r>
            <a:endParaRPr lang="en-US" sz="1050" dirty="0"/>
          </a:p>
        </p:txBody>
      </p:sp>
      <p:sp>
        <p:nvSpPr>
          <p:cNvPr id="8" name="Shape 5"/>
          <p:cNvSpPr/>
          <p:nvPr/>
        </p:nvSpPr>
        <p:spPr>
          <a:xfrm>
            <a:off x="6263640" y="5120640"/>
            <a:ext cx="5349240" cy="1234440"/>
          </a:xfrm>
          <a:prstGeom prst="rect">
            <a:avLst/>
          </a:prstGeom>
          <a:solidFill>
            <a:srgbClr val="F4F6F8"/>
          </a:solidFill>
          <a:ln/>
        </p:spPr>
      </p:sp>
      <p:sp>
        <p:nvSpPr>
          <p:cNvPr id="9" name="Text 6"/>
          <p:cNvSpPr/>
          <p:nvPr/>
        </p:nvSpPr>
        <p:spPr>
          <a:xfrm>
            <a:off x="6583680" y="5248656"/>
            <a:ext cx="4754880" cy="274320"/>
          </a:xfrm>
          <a:prstGeom prst="rect">
            <a:avLst/>
          </a:prstGeom>
          <a:noFill/>
          <a:ln/>
        </p:spPr>
        <p:txBody>
          <a:bodyPr wrap="square" rtlCol="0" anchor="ctr"/>
          <a:lstStyle/>
          <a:p>
            <a:pPr indent="0" marL="0">
              <a:buNone/>
            </a:pPr>
            <a:r>
              <a:rPr lang="en-US" sz="1250" b="1" dirty="0">
                <a:solidFill>
                  <a:srgbClr val="12283F"/>
                </a:solidFill>
                <a:latin typeface="Calibri" pitchFamily="34" charset="0"/>
                <a:ea typeface="Calibri" pitchFamily="34" charset="-122"/>
                <a:cs typeface="Calibri" pitchFamily="34" charset="-120"/>
              </a:rPr>
              <a:t>Stable, with a soft finish</a:t>
            </a:r>
            <a:endParaRPr lang="en-US" sz="1250" dirty="0"/>
          </a:p>
        </p:txBody>
      </p:sp>
      <p:sp>
        <p:nvSpPr>
          <p:cNvPr id="10" name="Text 7"/>
          <p:cNvSpPr/>
          <p:nvPr/>
        </p:nvSpPr>
        <p:spPr>
          <a:xfrm>
            <a:off x="6583680" y="5522976"/>
            <a:ext cx="4754880" cy="77724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Weekly OEE holds in a narrow 62–71% band all period with no upward trend. The last three weeks of June sit at the lower end — worth watching, but not yet a trend.</a:t>
            </a:r>
            <a:endParaRPr lang="en-US" sz="10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2" name="Text 9"/>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Customer Profile</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Two questions: who orders the most, and who orders most often</a:t>
            </a:r>
            <a:endParaRPr lang="en-US" sz="1350" dirty="0"/>
          </a:p>
        </p:txBody>
      </p:sp>
      <p:graphicFrame>
        <p:nvGraphicFramePr>
          <p:cNvPr id="4" name="Chart 0" descr=""/>
          <p:cNvGraphicFramePr/>
          <p:nvPr/>
        </p:nvGraphicFramePr>
        <p:xfrm>
          <a:off x="502920" y="146304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463040"/>
          <a:ext cx="5486400" cy="36576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257800"/>
            <a:ext cx="11064240" cy="1097280"/>
          </a:xfrm>
          <a:prstGeom prst="rect">
            <a:avLst/>
          </a:prstGeom>
          <a:solidFill>
            <a:srgbClr val="1B3A5A"/>
          </a:solidFill>
          <a:ln/>
        </p:spPr>
      </p:sp>
      <p:sp>
        <p:nvSpPr>
          <p:cNvPr id="7" name="Text 3"/>
          <p:cNvSpPr/>
          <p:nvPr/>
        </p:nvSpPr>
        <p:spPr>
          <a:xfrm>
            <a:off x="914400" y="5376672"/>
            <a:ext cx="10332720" cy="274320"/>
          </a:xfrm>
          <a:prstGeom prst="rect">
            <a:avLst/>
          </a:prstGeom>
          <a:noFill/>
          <a:ln/>
        </p:spPr>
        <p:txBody>
          <a:bodyPr wrap="square" rtlCol="0" anchor="ctr"/>
          <a:lstStyle/>
          <a:p>
            <a:pPr indent="0" marL="0">
              <a:buNone/>
            </a:pPr>
            <a:r>
              <a:rPr lang="en-US" sz="1250" b="1" dirty="0">
                <a:solidFill>
                  <a:srgbClr val="F2A65A"/>
                </a:solidFill>
                <a:latin typeface="Calibri" pitchFamily="34" charset="0"/>
                <a:ea typeface="Calibri" pitchFamily="34" charset="-122"/>
                <a:cs typeface="Calibri" pitchFamily="34" charset="-120"/>
              </a:rPr>
              <a:t>Ten customers appear in both top fifteen lists — these are the genuine key accounts</a:t>
            </a:r>
            <a:endParaRPr lang="en-US" sz="1250" dirty="0"/>
          </a:p>
        </p:txBody>
      </p:sp>
      <p:sp>
        <p:nvSpPr>
          <p:cNvPr id="8" name="Text 4"/>
          <p:cNvSpPr/>
          <p:nvPr/>
        </p:nvSpPr>
        <p:spPr>
          <a:xfrm>
            <a:off x="914400" y="5669280"/>
            <a:ext cx="10332720" cy="594360"/>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Frapak and Cambrian lead on both dimensions and together account for 31% of all units booked to named customers. Tetrosyl is the notable exception — 6th by volume on just 7 orders, so a small number of very large orders rather than a steady relationship.</a:t>
            </a:r>
            <a:endParaRPr lang="en-US" sz="1050" dirty="0"/>
          </a:p>
        </p:txBody>
      </p:sp>
      <p:sp>
        <p:nvSpPr>
          <p:cNvPr id="9"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0" name="Text 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How Concentrated Is the Customer Book?</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Cumulative share of booked volume, customers ranked largest to smallest</a:t>
            </a:r>
            <a:endParaRPr lang="en-US" sz="1350" dirty="0"/>
          </a:p>
        </p:txBody>
      </p:sp>
      <p:graphicFrame>
        <p:nvGraphicFramePr>
          <p:cNvPr id="4" name="Chart 0" descr=""/>
          <p:cNvGraphicFramePr/>
          <p:nvPr/>
        </p:nvGraphicFramePr>
        <p:xfrm>
          <a:off x="548640" y="1463040"/>
          <a:ext cx="704088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463040"/>
            <a:ext cx="3794760" cy="4114800"/>
          </a:xfrm>
          <a:prstGeom prst="rect">
            <a:avLst/>
          </a:prstGeom>
          <a:solidFill>
            <a:srgbClr val="1B3A5A"/>
          </a:solidFill>
          <a:ln/>
        </p:spPr>
      </p:sp>
      <p:sp>
        <p:nvSpPr>
          <p:cNvPr id="6" name="Text 3"/>
          <p:cNvSpPr/>
          <p:nvPr/>
        </p:nvSpPr>
        <p:spPr>
          <a:xfrm>
            <a:off x="8092440" y="1691640"/>
            <a:ext cx="3246120" cy="320040"/>
          </a:xfrm>
          <a:prstGeom prst="rect">
            <a:avLst/>
          </a:prstGeom>
          <a:noFill/>
          <a:ln/>
        </p:spPr>
        <p:txBody>
          <a:bodyPr wrap="square" rtlCol="0" anchor="ctr"/>
          <a:lstStyle/>
          <a:p>
            <a:pPr indent="0" marL="0">
              <a:buNone/>
            </a:pPr>
            <a:r>
              <a:rPr lang="en-US" sz="1350" b="1" dirty="0">
                <a:solidFill>
                  <a:srgbClr val="F2A65A"/>
                </a:solidFill>
                <a:latin typeface="Calibri" pitchFamily="34" charset="0"/>
                <a:ea typeface="Calibri" pitchFamily="34" charset="-122"/>
                <a:cs typeface="Calibri" pitchFamily="34" charset="-120"/>
              </a:rPr>
              <a:t>A genuine 80/20 book</a:t>
            </a:r>
            <a:endParaRPr lang="en-US" sz="1350" dirty="0"/>
          </a:p>
        </p:txBody>
      </p:sp>
      <p:sp>
        <p:nvSpPr>
          <p:cNvPr id="7" name="Text 4"/>
          <p:cNvSpPr/>
          <p:nvPr/>
        </p:nvSpPr>
        <p:spPr>
          <a:xfrm>
            <a:off x="8092440" y="2057400"/>
            <a:ext cx="3246120" cy="3429000"/>
          </a:xfrm>
          <a:prstGeom prst="rect">
            <a:avLst/>
          </a:prstGeom>
          <a:noFill/>
          <a:ln/>
        </p:spPr>
        <p:txBody>
          <a:bodyPr wrap="square" rtlCol="0" anchor="t"/>
          <a:lstStyle/>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20 customers out of 95 — 21% — account for 81% of all booked volume</a:t>
            </a:r>
            <a:endParaRPr lang="en-US" sz="1150" dirty="0"/>
          </a:p>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This is the classic Pareto pattern that downtime did NOT follow</a:t>
            </a:r>
            <a:endParaRPr lang="en-US" sz="1150" dirty="0"/>
          </a:p>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Frapak alone is 18% of the entire book</a:t>
            </a:r>
            <a:endParaRPr lang="en-US" sz="1150" dirty="0"/>
          </a:p>
          <a:p>
            <a:pPr marL="342900" indent="-342900">
              <a:lnSpc>
                <a:spcPct val="128000"/>
              </a:lnSpc>
              <a:buSzPct val="100000"/>
              <a:buChar char="•"/>
            </a:pPr>
            <a:r>
              <a:rPr lang="en-US" sz="1150" dirty="0">
                <a:solidFill>
                  <a:srgbClr val="FFFFFF"/>
                </a:solidFill>
                <a:latin typeface="Calibri" pitchFamily="34" charset="0"/>
                <a:ea typeface="Calibri" pitchFamily="34" charset="-122"/>
                <a:cs typeface="Calibri" pitchFamily="34" charset="-120"/>
              </a:rPr>
              <a:t>39 of the 95 customers placed just one order in six months, together contributing very little volume</a:t>
            </a:r>
            <a:endParaRPr lang="en-US" sz="1150" dirty="0"/>
          </a:p>
        </p:txBody>
      </p:sp>
      <p:sp>
        <p:nvSpPr>
          <p:cNvPr id="8" name="Shape 5"/>
          <p:cNvSpPr/>
          <p:nvPr/>
        </p:nvSpPr>
        <p:spPr>
          <a:xfrm>
            <a:off x="548640" y="5715000"/>
            <a:ext cx="11064240" cy="658368"/>
          </a:xfrm>
          <a:prstGeom prst="rect">
            <a:avLst/>
          </a:prstGeom>
          <a:solidFill>
            <a:srgbClr val="F4F6F8"/>
          </a:solidFill>
          <a:ln/>
        </p:spPr>
      </p:sp>
      <p:sp>
        <p:nvSpPr>
          <p:cNvPr id="9" name="Text 6"/>
          <p:cNvSpPr/>
          <p:nvPr/>
        </p:nvSpPr>
        <p:spPr>
          <a:xfrm>
            <a:off x="868680" y="5852160"/>
            <a:ext cx="10515600" cy="411480"/>
          </a:xfrm>
          <a:prstGeom prst="rect">
            <a:avLst/>
          </a:prstGeom>
          <a:noFill/>
          <a:ln/>
        </p:spPr>
        <p:txBody>
          <a:bodyPr wrap="square" rtlCol="0" anchor="t"/>
          <a:lstStyle/>
          <a:p>
            <a:pPr indent="0" marL="0">
              <a:buNone/>
            </a:pPr>
            <a:r>
              <a:rPr lang="en-US" sz="1100" i="1" dirty="0">
                <a:solidFill>
                  <a:srgbClr val="1A1A1A"/>
                </a:solidFill>
                <a:latin typeface="Calibri" pitchFamily="34" charset="0"/>
                <a:ea typeface="Calibri" pitchFamily="34" charset="-122"/>
                <a:cs typeface="Calibri" pitchFamily="34" charset="-120"/>
              </a:rPr>
              <a:t>Commercial implication: service disruption affecting the top 20 accounts carries roughly four times the revenue exposure of disruption spread evenly across the customer base.</a:t>
            </a:r>
            <a:endParaRPr lang="en-US" sz="1100" dirty="0"/>
          </a:p>
        </p:txBody>
      </p:sp>
      <p:sp>
        <p:nvSpPr>
          <p:cNvPr id="10" name="Text 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1" name="Text 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Not All Large Customers Behave the Same</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Average order size separates two very different commercial relationships</a:t>
            </a:r>
            <a:endParaRPr lang="en-US" sz="1350" dirty="0"/>
          </a:p>
        </p:txBody>
      </p:sp>
      <p:sp>
        <p:nvSpPr>
          <p:cNvPr id="4" name="Shape 2"/>
          <p:cNvSpPr/>
          <p:nvPr/>
        </p:nvSpPr>
        <p:spPr>
          <a:xfrm>
            <a:off x="548640" y="1463040"/>
            <a:ext cx="5349240" cy="2514600"/>
          </a:xfrm>
          <a:prstGeom prst="rect">
            <a:avLst/>
          </a:prstGeom>
          <a:solidFill>
            <a:srgbClr val="F4F6F8"/>
          </a:solidFill>
          <a:ln/>
        </p:spPr>
      </p:sp>
      <p:sp>
        <p:nvSpPr>
          <p:cNvPr id="5" name="Text 3"/>
          <p:cNvSpPr/>
          <p:nvPr/>
        </p:nvSpPr>
        <p:spPr>
          <a:xfrm>
            <a:off x="868680" y="1664208"/>
            <a:ext cx="4754880" cy="292608"/>
          </a:xfrm>
          <a:prstGeom prst="rect">
            <a:avLst/>
          </a:prstGeom>
          <a:noFill/>
          <a:ln/>
        </p:spPr>
        <p:txBody>
          <a:bodyPr wrap="square" rtlCol="0" anchor="ctr"/>
          <a:lstStyle/>
          <a:p>
            <a:pPr indent="0" marL="0">
              <a:buNone/>
            </a:pPr>
            <a:r>
              <a:rPr lang="en-US" sz="1350" b="1" dirty="0">
                <a:solidFill>
                  <a:srgbClr val="2C6E7F"/>
                </a:solidFill>
                <a:latin typeface="Calibri" pitchFamily="34" charset="0"/>
                <a:ea typeface="Calibri" pitchFamily="34" charset="-122"/>
                <a:cs typeface="Calibri" pitchFamily="34" charset="-120"/>
              </a:rPr>
              <a:t>Large, infrequent orders</a:t>
            </a:r>
            <a:endParaRPr lang="en-US" sz="1350" dirty="0"/>
          </a:p>
        </p:txBody>
      </p:sp>
      <p:sp>
        <p:nvSpPr>
          <p:cNvPr id="6" name="Text 4"/>
          <p:cNvSpPr/>
          <p:nvPr/>
        </p:nvSpPr>
        <p:spPr>
          <a:xfrm>
            <a:off x="868680" y="2011680"/>
            <a:ext cx="4754880" cy="1234440"/>
          </a:xfrm>
          <a:prstGeom prst="rect">
            <a:avLst/>
          </a:prstGeom>
          <a:noFill/>
          <a:ln/>
        </p:spPr>
        <p:txBody>
          <a:bodyPr wrap="square" rtlCol="0" anchor="t"/>
          <a:lstStyle/>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Tetrosyl — 196,551 units per order, only 7 orders</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KH7 Lloreda — 184,000 per order, 3 orders, a single part number</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Mexon Ltd — 104,522 per order, 18 orders across 5 parts</a:t>
            </a:r>
            <a:endParaRPr lang="en-US" sz="1150" dirty="0"/>
          </a:p>
        </p:txBody>
      </p:sp>
      <p:sp>
        <p:nvSpPr>
          <p:cNvPr id="7" name="Text 5"/>
          <p:cNvSpPr/>
          <p:nvPr/>
        </p:nvSpPr>
        <p:spPr>
          <a:xfrm>
            <a:off x="868680" y="3291840"/>
            <a:ext cx="4754880" cy="548640"/>
          </a:xfrm>
          <a:prstGeom prst="rect">
            <a:avLst/>
          </a:prstGeom>
          <a:noFill/>
          <a:ln/>
        </p:spPr>
        <p:txBody>
          <a:bodyPr wrap="square"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These need capacity planning and lead-time visibility. A missed slot is a large, visible failure.</a:t>
            </a:r>
            <a:endParaRPr lang="en-US" sz="1050" dirty="0"/>
          </a:p>
        </p:txBody>
      </p:sp>
      <p:sp>
        <p:nvSpPr>
          <p:cNvPr id="8" name="Shape 6"/>
          <p:cNvSpPr/>
          <p:nvPr/>
        </p:nvSpPr>
        <p:spPr>
          <a:xfrm>
            <a:off x="6263640" y="1463040"/>
            <a:ext cx="5349240" cy="2514600"/>
          </a:xfrm>
          <a:prstGeom prst="rect">
            <a:avLst/>
          </a:prstGeom>
          <a:solidFill>
            <a:srgbClr val="F4F6F8"/>
          </a:solidFill>
          <a:ln/>
        </p:spPr>
      </p:sp>
      <p:sp>
        <p:nvSpPr>
          <p:cNvPr id="9" name="Text 7"/>
          <p:cNvSpPr/>
          <p:nvPr/>
        </p:nvSpPr>
        <p:spPr>
          <a:xfrm>
            <a:off x="6583680" y="1664208"/>
            <a:ext cx="4754880" cy="292608"/>
          </a:xfrm>
          <a:prstGeom prst="rect">
            <a:avLst/>
          </a:prstGeom>
          <a:noFill/>
          <a:ln/>
        </p:spPr>
        <p:txBody>
          <a:bodyPr wrap="square"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Steady, high-frequency orders</a:t>
            </a:r>
            <a:endParaRPr lang="en-US" sz="1350" dirty="0"/>
          </a:p>
        </p:txBody>
      </p:sp>
      <p:sp>
        <p:nvSpPr>
          <p:cNvPr id="10" name="Text 8"/>
          <p:cNvSpPr/>
          <p:nvPr/>
        </p:nvSpPr>
        <p:spPr>
          <a:xfrm>
            <a:off x="6583680" y="2011680"/>
            <a:ext cx="4754880" cy="1234440"/>
          </a:xfrm>
          <a:prstGeom prst="rect">
            <a:avLst/>
          </a:prstGeom>
          <a:noFill/>
          <a:ln/>
        </p:spPr>
        <p:txBody>
          <a:bodyPr wrap="square" rtlCol="0" anchor="t"/>
          <a:lstStyle/>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Cambrian — 102 orders across 39 different part numbers</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Frapak — 90 orders across 42 part numbers, the widest range of any customer</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Lindner — 57 orders across 37 parts</a:t>
            </a:r>
            <a:endParaRPr lang="en-US" sz="1150" dirty="0"/>
          </a:p>
        </p:txBody>
      </p:sp>
      <p:sp>
        <p:nvSpPr>
          <p:cNvPr id="11" name="Text 9"/>
          <p:cNvSpPr/>
          <p:nvPr/>
        </p:nvSpPr>
        <p:spPr>
          <a:xfrm>
            <a:off x="6583680" y="3291840"/>
            <a:ext cx="4754880" cy="548640"/>
          </a:xfrm>
          <a:prstGeom prst="rect">
            <a:avLst/>
          </a:prstGeom>
          <a:noFill/>
          <a:ln/>
        </p:spPr>
        <p:txBody>
          <a:bodyPr wrap="square"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These need scheduling flexibility and fast changeover. Their value comes from consistency, not size.</a:t>
            </a:r>
            <a:endParaRPr lang="en-US" sz="1050" dirty="0"/>
          </a:p>
        </p:txBody>
      </p:sp>
      <p:sp>
        <p:nvSpPr>
          <p:cNvPr id="12" name="Shape 10"/>
          <p:cNvSpPr/>
          <p:nvPr/>
        </p:nvSpPr>
        <p:spPr>
          <a:xfrm>
            <a:off x="548640" y="4206240"/>
            <a:ext cx="11064240" cy="1874520"/>
          </a:xfrm>
          <a:prstGeom prst="rect">
            <a:avLst/>
          </a:prstGeom>
          <a:solidFill>
            <a:srgbClr val="1B3A5A"/>
          </a:solidFill>
          <a:ln/>
        </p:spPr>
      </p:sp>
      <p:sp>
        <p:nvSpPr>
          <p:cNvPr id="13" name="Text 11"/>
          <p:cNvSpPr/>
          <p:nvPr/>
        </p:nvSpPr>
        <p:spPr>
          <a:xfrm>
            <a:off x="914400" y="4407408"/>
            <a:ext cx="10332720" cy="320040"/>
          </a:xfrm>
          <a:prstGeom prst="rect">
            <a:avLst/>
          </a:prstGeom>
          <a:noFill/>
          <a:ln/>
        </p:spPr>
        <p:txBody>
          <a:bodyPr wrap="square" rtlCol="0" anchor="ctr"/>
          <a:lstStyle/>
          <a:p>
            <a:pPr indent="0" marL="0">
              <a:buNone/>
            </a:pPr>
            <a:r>
              <a:rPr lang="en-US" sz="1400" b="1" dirty="0">
                <a:solidFill>
                  <a:srgbClr val="F2A65A"/>
                </a:solidFill>
                <a:latin typeface="Calibri" pitchFamily="34" charset="0"/>
                <a:ea typeface="Calibri" pitchFamily="34" charset="-122"/>
                <a:cs typeface="Calibri" pitchFamily="34" charset="-120"/>
              </a:rPr>
              <a:t>Why this distinction matters operationally</a:t>
            </a:r>
            <a:endParaRPr lang="en-US" sz="1400" dirty="0"/>
          </a:p>
        </p:txBody>
      </p:sp>
      <p:sp>
        <p:nvSpPr>
          <p:cNvPr id="14" name="Text 12"/>
          <p:cNvSpPr/>
          <p:nvPr/>
        </p:nvSpPr>
        <p:spPr>
          <a:xfrm>
            <a:off x="914400" y="4754880"/>
            <a:ext cx="10332720" cy="1234440"/>
          </a:xfrm>
          <a:prstGeom prst="rect">
            <a:avLst/>
          </a:prstGeom>
          <a:noFill/>
          <a:ln/>
        </p:spPr>
        <p:txBody>
          <a:bodyPr wrap="square" rtlCol="0" anchor="t"/>
          <a:lstStyle/>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13 customers placed 10 or more orders and together account for 66% of all booked volume — repeat business, not one-off wins, carries the book</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High-frequency, wide-part-range customers like Frapak and Cambrian are the ones most exposed to changeover time and micro-stoppages</a:t>
            </a:r>
            <a:endParaRPr lang="en-US" sz="1200" dirty="0"/>
          </a:p>
          <a:p>
            <a:pPr marL="342900" indent="-342900">
              <a:lnSpc>
                <a:spcPct val="125000"/>
              </a:lnSpc>
              <a:buSzPct val="100000"/>
              <a:buChar char="•"/>
            </a:pPr>
            <a:r>
              <a:rPr lang="en-US" sz="1200" dirty="0">
                <a:solidFill>
                  <a:srgbClr val="FFFFFF"/>
                </a:solidFill>
                <a:latin typeface="Calibri" pitchFamily="34" charset="0"/>
                <a:ea typeface="Calibri" pitchFamily="34" charset="-122"/>
                <a:cs typeface="Calibri" pitchFamily="34" charset="-120"/>
              </a:rPr>
              <a:t>The two segments are best served by different things: one by reliable capacity, the other by flexibility — worth confirming which the business currently optimises for</a:t>
            </a:r>
            <a:endParaRPr lang="en-US" sz="1200" dirty="0"/>
          </a:p>
        </p:txBody>
      </p:sp>
      <p:sp>
        <p:nvSpPr>
          <p:cNvPr id="15" name="Text 1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6" name="Text 14"/>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Operator Output</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Total volume tells one story — output per shift tells another</a:t>
            </a:r>
            <a:endParaRPr lang="en-US" sz="1350" dirty="0"/>
          </a:p>
        </p:txBody>
      </p:sp>
      <p:graphicFrame>
        <p:nvGraphicFramePr>
          <p:cNvPr id="4" name="Chart 0" descr=""/>
          <p:cNvGraphicFramePr/>
          <p:nvPr/>
        </p:nvGraphicFramePr>
        <p:xfrm>
          <a:off x="502920" y="146304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463040"/>
          <a:ext cx="5486400" cy="35661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166360"/>
            <a:ext cx="11064240" cy="1188720"/>
          </a:xfrm>
          <a:prstGeom prst="rect">
            <a:avLst/>
          </a:prstGeom>
          <a:solidFill>
            <a:srgbClr val="F4F6F8"/>
          </a:solidFill>
          <a:ln/>
        </p:spPr>
      </p:sp>
      <p:sp>
        <p:nvSpPr>
          <p:cNvPr id="7" name="Text 3"/>
          <p:cNvSpPr/>
          <p:nvPr/>
        </p:nvSpPr>
        <p:spPr>
          <a:xfrm>
            <a:off x="868680" y="5285232"/>
            <a:ext cx="10515600" cy="274320"/>
          </a:xfrm>
          <a:prstGeom prst="rect">
            <a:avLst/>
          </a:prstGeom>
          <a:noFill/>
          <a:ln/>
        </p:spPr>
        <p:txBody>
          <a:bodyPr wrap="square" rtlCol="0" anchor="ctr"/>
          <a:lstStyle/>
          <a:p>
            <a:pPr indent="0" marL="0">
              <a:buNone/>
            </a:pPr>
            <a:r>
              <a:rPr lang="en-US" sz="1250" b="1" dirty="0">
                <a:solidFill>
                  <a:srgbClr val="12283F"/>
                </a:solidFill>
                <a:latin typeface="Calibri" pitchFamily="34" charset="0"/>
                <a:ea typeface="Calibri" pitchFamily="34" charset="-122"/>
                <a:cs typeface="Calibri" pitchFamily="34" charset="-120"/>
              </a:rPr>
              <a:t>The ranking changes substantially once shifts worked are taken into account</a:t>
            </a:r>
            <a:endParaRPr lang="en-US" sz="1250" dirty="0"/>
          </a:p>
        </p:txBody>
      </p:sp>
      <p:sp>
        <p:nvSpPr>
          <p:cNvPr id="8" name="Text 4"/>
          <p:cNvSpPr/>
          <p:nvPr/>
        </p:nvSpPr>
        <p:spPr>
          <a:xfrm>
            <a:off x="868680" y="5559552"/>
            <a:ext cx="10515600" cy="73152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Andrew Watson and Jerzy Wojtowicz do not appear in the top eight by total volume, yet lead comfortably on output per shift. Both worked fewer than 30 shifts, so these are indicative rather than conclusive. This should be read as a prompt to look at how work is allocated, not as an individual performance ranking — output per shift depends heavily on which line and which product an operator was assigned.</a:t>
            </a:r>
            <a:endParaRPr lang="en-US" sz="1050" dirty="0"/>
          </a:p>
        </p:txBody>
      </p:sp>
      <p:sp>
        <p:nvSpPr>
          <p:cNvPr id="9"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0" name="Text 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F"/>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2283F"/>
          </a:solidFill>
          <a:ln/>
        </p:spPr>
      </p:sp>
      <p:sp>
        <p:nvSpPr>
          <p:cNvPr id="3" name="Text 1"/>
          <p:cNvSpPr/>
          <p:nvPr/>
        </p:nvSpPr>
        <p:spPr>
          <a:xfrm>
            <a:off x="548640" y="411480"/>
            <a:ext cx="100584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Business Insights</a:t>
            </a:r>
            <a:endParaRPr lang="en-US" sz="2800" dirty="0"/>
          </a:p>
        </p:txBody>
      </p:sp>
      <p:sp>
        <p:nvSpPr>
          <p:cNvPr id="4" name="Shape 2"/>
          <p:cNvSpPr/>
          <p:nvPr/>
        </p:nvSpPr>
        <p:spPr>
          <a:xfrm>
            <a:off x="548640" y="1188720"/>
            <a:ext cx="5349240" cy="2331720"/>
          </a:xfrm>
          <a:prstGeom prst="rect">
            <a:avLst/>
          </a:prstGeom>
          <a:solidFill>
            <a:srgbClr val="1B3A5A"/>
          </a:solidFill>
          <a:ln/>
        </p:spPr>
      </p:sp>
      <p:sp>
        <p:nvSpPr>
          <p:cNvPr id="5" name="Text 3"/>
          <p:cNvSpPr/>
          <p:nvPr/>
        </p:nvSpPr>
        <p:spPr>
          <a:xfrm>
            <a:off x="822960" y="1389888"/>
            <a:ext cx="4800600" cy="566928"/>
          </a:xfrm>
          <a:prstGeom prst="rect">
            <a:avLst/>
          </a:prstGeom>
          <a:noFill/>
          <a:ln/>
        </p:spPr>
        <p:txBody>
          <a:bodyPr wrap="square" rtlCol="0" anchor="t"/>
          <a:lstStyle/>
          <a:p>
            <a:pPr indent="0" marL="0">
              <a:buNone/>
            </a:pPr>
            <a:r>
              <a:rPr lang="en-US" sz="1450" b="1" dirty="0">
                <a:solidFill>
                  <a:srgbClr val="F2A65A"/>
                </a:solidFill>
                <a:latin typeface="Calibri" pitchFamily="34" charset="0"/>
                <a:ea typeface="Calibri" pitchFamily="34" charset="-122"/>
                <a:cs typeface="Calibri" pitchFamily="34" charset="-120"/>
              </a:rPr>
              <a:t>Stopped time exceeds running time</a:t>
            </a:r>
            <a:endParaRPr lang="en-US" sz="1450" dirty="0"/>
          </a:p>
        </p:txBody>
      </p:sp>
      <p:sp>
        <p:nvSpPr>
          <p:cNvPr id="6" name="Text 4"/>
          <p:cNvSpPr/>
          <p:nvPr/>
        </p:nvSpPr>
        <p:spPr>
          <a:xfrm>
            <a:off x="822960" y="1993392"/>
            <a:ext cx="4800600" cy="1371600"/>
          </a:xfrm>
          <a:prstGeom prst="rect">
            <a:avLst/>
          </a:prstGeom>
          <a:noFill/>
          <a:ln/>
        </p:spPr>
        <p:txBody>
          <a:bodyPr wrap="square" rtlCol="0" anchor="t"/>
          <a:lstStyle/>
          <a:p>
            <a:pPr indent="0" marL="0">
              <a:lnSpc>
                <a:spcPct val="122000"/>
              </a:lnSpc>
              <a:buNone/>
            </a:pPr>
            <a:r>
              <a:rPr lang="en-US" sz="1150" dirty="0">
                <a:solidFill>
                  <a:srgbClr val="D9E1E8"/>
                </a:solidFill>
                <a:latin typeface="Calibri" pitchFamily="34" charset="0"/>
                <a:ea typeface="Calibri" pitchFamily="34" charset="-122"/>
                <a:cs typeface="Calibri" pitchFamily="34" charset="-120"/>
              </a:rPr>
              <a:t>17,088 hours halted against 12,977 hours running, across 129,864 separate stoppages — roughly 52 per shift. Continuity of running, not quality or speed, is the binding constraint.</a:t>
            </a:r>
            <a:endParaRPr lang="en-US" sz="1150" dirty="0"/>
          </a:p>
        </p:txBody>
      </p:sp>
      <p:sp>
        <p:nvSpPr>
          <p:cNvPr id="7" name="Shape 5"/>
          <p:cNvSpPr/>
          <p:nvPr/>
        </p:nvSpPr>
        <p:spPr>
          <a:xfrm>
            <a:off x="6217920" y="1188720"/>
            <a:ext cx="5349240" cy="2331720"/>
          </a:xfrm>
          <a:prstGeom prst="rect">
            <a:avLst/>
          </a:prstGeom>
          <a:solidFill>
            <a:srgbClr val="1B3A5A"/>
          </a:solidFill>
          <a:ln/>
        </p:spPr>
      </p:sp>
      <p:sp>
        <p:nvSpPr>
          <p:cNvPr id="8" name="Text 6"/>
          <p:cNvSpPr/>
          <p:nvPr/>
        </p:nvSpPr>
        <p:spPr>
          <a:xfrm>
            <a:off x="6492240" y="1389888"/>
            <a:ext cx="4800600" cy="566928"/>
          </a:xfrm>
          <a:prstGeom prst="rect">
            <a:avLst/>
          </a:prstGeom>
          <a:noFill/>
          <a:ln/>
        </p:spPr>
        <p:txBody>
          <a:bodyPr wrap="square" rtlCol="0" anchor="t"/>
          <a:lstStyle/>
          <a:p>
            <a:pPr indent="0" marL="0">
              <a:buNone/>
            </a:pPr>
            <a:r>
              <a:rPr lang="en-US" sz="1450" b="1" dirty="0">
                <a:solidFill>
                  <a:srgbClr val="F2A65A"/>
                </a:solidFill>
                <a:latin typeface="Calibri" pitchFamily="34" charset="0"/>
                <a:ea typeface="Calibri" pitchFamily="34" charset="-122"/>
                <a:cs typeface="Calibri" pitchFamily="34" charset="-120"/>
              </a:rPr>
              <a:t>Two distinct downtime problems, not one</a:t>
            </a:r>
            <a:endParaRPr lang="en-US" sz="1450" dirty="0"/>
          </a:p>
        </p:txBody>
      </p:sp>
      <p:sp>
        <p:nvSpPr>
          <p:cNvPr id="9" name="Text 7"/>
          <p:cNvSpPr/>
          <p:nvPr/>
        </p:nvSpPr>
        <p:spPr>
          <a:xfrm>
            <a:off x="6492240" y="1993392"/>
            <a:ext cx="4800600" cy="1371600"/>
          </a:xfrm>
          <a:prstGeom prst="rect">
            <a:avLst/>
          </a:prstGeom>
          <a:noFill/>
          <a:ln/>
        </p:spPr>
        <p:txBody>
          <a:bodyPr wrap="square" rtlCol="0" anchor="t"/>
          <a:lstStyle/>
          <a:p>
            <a:pPr indent="0" marL="0">
              <a:lnSpc>
                <a:spcPct val="122000"/>
              </a:lnSpc>
              <a:buNone/>
            </a:pPr>
            <a:r>
              <a:rPr lang="en-US" sz="1150" dirty="0">
                <a:solidFill>
                  <a:srgbClr val="D9E1E8"/>
                </a:solidFill>
                <a:latin typeface="Calibri" pitchFamily="34" charset="0"/>
                <a:ea typeface="Calibri" pitchFamily="34" charset="-122"/>
                <a:cs typeface="Calibri" pitchFamily="34" charset="-120"/>
              </a:rPr>
              <a:t>MC5 averages 3.4 minutes per stop across 41,132 stops; MC2 averages 60 minutes across just 2,376. Micro-stoppages and major breakdowns need completely different fixes.</a:t>
            </a:r>
            <a:endParaRPr lang="en-US" sz="1150" dirty="0"/>
          </a:p>
        </p:txBody>
      </p:sp>
      <p:sp>
        <p:nvSpPr>
          <p:cNvPr id="10" name="Shape 8"/>
          <p:cNvSpPr/>
          <p:nvPr/>
        </p:nvSpPr>
        <p:spPr>
          <a:xfrm>
            <a:off x="548640" y="3721608"/>
            <a:ext cx="5349240" cy="2331720"/>
          </a:xfrm>
          <a:prstGeom prst="rect">
            <a:avLst/>
          </a:prstGeom>
          <a:solidFill>
            <a:srgbClr val="1B3A5A"/>
          </a:solidFill>
          <a:ln/>
        </p:spPr>
      </p:sp>
      <p:sp>
        <p:nvSpPr>
          <p:cNvPr id="11" name="Text 9"/>
          <p:cNvSpPr/>
          <p:nvPr/>
        </p:nvSpPr>
        <p:spPr>
          <a:xfrm>
            <a:off x="822960" y="3922776"/>
            <a:ext cx="4800600" cy="566928"/>
          </a:xfrm>
          <a:prstGeom prst="rect">
            <a:avLst/>
          </a:prstGeom>
          <a:noFill/>
          <a:ln/>
        </p:spPr>
        <p:txBody>
          <a:bodyPr wrap="square" rtlCol="0" anchor="t"/>
          <a:lstStyle/>
          <a:p>
            <a:pPr indent="0" marL="0">
              <a:buNone/>
            </a:pPr>
            <a:r>
              <a:rPr lang="en-US" sz="1450" b="1" dirty="0">
                <a:solidFill>
                  <a:srgbClr val="F2A65A"/>
                </a:solidFill>
                <a:latin typeface="Calibri" pitchFamily="34" charset="0"/>
                <a:ea typeface="Calibri" pitchFamily="34" charset="-122"/>
                <a:cs typeface="Calibri" pitchFamily="34" charset="-120"/>
              </a:rPr>
              <a:t>The lines are more alike than they appear</a:t>
            </a:r>
            <a:endParaRPr lang="en-US" sz="1450" dirty="0"/>
          </a:p>
        </p:txBody>
      </p:sp>
      <p:sp>
        <p:nvSpPr>
          <p:cNvPr id="12" name="Text 10"/>
          <p:cNvSpPr/>
          <p:nvPr/>
        </p:nvSpPr>
        <p:spPr>
          <a:xfrm>
            <a:off x="822960" y="4526280"/>
            <a:ext cx="4800600" cy="1371600"/>
          </a:xfrm>
          <a:prstGeom prst="rect">
            <a:avLst/>
          </a:prstGeom>
          <a:noFill/>
          <a:ln/>
        </p:spPr>
        <p:txBody>
          <a:bodyPr wrap="square" rtlCol="0" anchor="t"/>
          <a:lstStyle/>
          <a:p>
            <a:pPr indent="0" marL="0">
              <a:lnSpc>
                <a:spcPct val="122000"/>
              </a:lnSpc>
              <a:buNone/>
            </a:pPr>
            <a:r>
              <a:rPr lang="en-US" sz="1150" dirty="0">
                <a:solidFill>
                  <a:srgbClr val="D9E1E8"/>
                </a:solidFill>
                <a:latin typeface="Calibri" pitchFamily="34" charset="0"/>
                <a:ea typeface="Calibri" pitchFamily="34" charset="-122"/>
                <a:cs typeface="Calibri" pitchFamily="34" charset="-120"/>
              </a:rPr>
              <a:t>Weighted for output, all six primary lines fall within 64.7–71.8% OEE. The raw unweighted figures exaggerated the differences between them.</a:t>
            </a:r>
            <a:endParaRPr lang="en-US" sz="1150" dirty="0"/>
          </a:p>
        </p:txBody>
      </p:sp>
      <p:sp>
        <p:nvSpPr>
          <p:cNvPr id="13" name="Shape 11"/>
          <p:cNvSpPr/>
          <p:nvPr/>
        </p:nvSpPr>
        <p:spPr>
          <a:xfrm>
            <a:off x="6217920" y="3721608"/>
            <a:ext cx="5349240" cy="2331720"/>
          </a:xfrm>
          <a:prstGeom prst="rect">
            <a:avLst/>
          </a:prstGeom>
          <a:solidFill>
            <a:srgbClr val="1B3A5A"/>
          </a:solidFill>
          <a:ln/>
        </p:spPr>
      </p:sp>
      <p:sp>
        <p:nvSpPr>
          <p:cNvPr id="14" name="Text 12"/>
          <p:cNvSpPr/>
          <p:nvPr/>
        </p:nvSpPr>
        <p:spPr>
          <a:xfrm>
            <a:off x="6492240" y="3922776"/>
            <a:ext cx="4800600" cy="566928"/>
          </a:xfrm>
          <a:prstGeom prst="rect">
            <a:avLst/>
          </a:prstGeom>
          <a:noFill/>
          <a:ln/>
        </p:spPr>
        <p:txBody>
          <a:bodyPr wrap="square" rtlCol="0" anchor="t"/>
          <a:lstStyle/>
          <a:p>
            <a:pPr indent="0" marL="0">
              <a:buNone/>
            </a:pPr>
            <a:r>
              <a:rPr lang="en-US" sz="1450" b="1" dirty="0">
                <a:solidFill>
                  <a:srgbClr val="F2A65A"/>
                </a:solidFill>
                <a:latin typeface="Calibri" pitchFamily="34" charset="0"/>
                <a:ea typeface="Calibri" pitchFamily="34" charset="-122"/>
                <a:cs typeface="Calibri" pitchFamily="34" charset="-120"/>
              </a:rPr>
              <a:t>Customer demand is concentrated</a:t>
            </a:r>
            <a:endParaRPr lang="en-US" sz="1450" dirty="0"/>
          </a:p>
        </p:txBody>
      </p:sp>
      <p:sp>
        <p:nvSpPr>
          <p:cNvPr id="15" name="Text 13"/>
          <p:cNvSpPr/>
          <p:nvPr/>
        </p:nvSpPr>
        <p:spPr>
          <a:xfrm>
            <a:off x="6492240" y="4526280"/>
            <a:ext cx="4800600" cy="1371600"/>
          </a:xfrm>
          <a:prstGeom prst="rect">
            <a:avLst/>
          </a:prstGeom>
          <a:noFill/>
          <a:ln/>
        </p:spPr>
        <p:txBody>
          <a:bodyPr wrap="square" rtlCol="0" anchor="t"/>
          <a:lstStyle/>
          <a:p>
            <a:pPr indent="0" marL="0">
              <a:lnSpc>
                <a:spcPct val="122000"/>
              </a:lnSpc>
              <a:buNone/>
            </a:pPr>
            <a:r>
              <a:rPr lang="en-US" sz="1150" dirty="0">
                <a:solidFill>
                  <a:srgbClr val="D9E1E8"/>
                </a:solidFill>
                <a:latin typeface="Calibri" pitchFamily="34" charset="0"/>
                <a:ea typeface="Calibri" pitchFamily="34" charset="-122"/>
                <a:cs typeface="Calibri" pitchFamily="34" charset="-120"/>
              </a:rPr>
              <a:t>Twenty of 95 customers account for 81% of booked volume, and 13 repeat customers carry 66%. Unlike downtime, the customer book follows a clear 80/20 pattern — service continuity for those accounts carries outsized commercial weight.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Recommendations</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Options for the business, based on what the data supports</a:t>
            </a:r>
            <a:endParaRPr lang="en-US" sz="1350" dirty="0"/>
          </a:p>
        </p:txBody>
      </p:sp>
      <p:sp>
        <p:nvSpPr>
          <p:cNvPr id="4" name="Shape 2"/>
          <p:cNvSpPr/>
          <p:nvPr/>
        </p:nvSpPr>
        <p:spPr>
          <a:xfrm>
            <a:off x="548640" y="1463040"/>
            <a:ext cx="11064240" cy="1133856"/>
          </a:xfrm>
          <a:prstGeom prst="rect">
            <a:avLst/>
          </a:prstGeom>
          <a:solidFill>
            <a:srgbClr val="F4F6F8"/>
          </a:solidFill>
          <a:ln/>
        </p:spPr>
      </p:sp>
      <p:sp>
        <p:nvSpPr>
          <p:cNvPr id="5" name="Shape 3"/>
          <p:cNvSpPr/>
          <p:nvPr/>
        </p:nvSpPr>
        <p:spPr>
          <a:xfrm>
            <a:off x="777240" y="1755648"/>
            <a:ext cx="548640" cy="548640"/>
          </a:xfrm>
          <a:prstGeom prst="ellipse">
            <a:avLst/>
          </a:prstGeom>
          <a:solidFill>
            <a:srgbClr val="D97706"/>
          </a:solidFill>
          <a:ln/>
        </p:spPr>
      </p:sp>
      <p:sp>
        <p:nvSpPr>
          <p:cNvPr id="6" name="Text 4"/>
          <p:cNvSpPr/>
          <p:nvPr/>
        </p:nvSpPr>
        <p:spPr>
          <a:xfrm>
            <a:off x="777240" y="1828800"/>
            <a:ext cx="5486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508760" y="1600200"/>
            <a:ext cx="97840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Treat micro-stoppages and breakdowns as separate problems</a:t>
            </a:r>
            <a:endParaRPr lang="en-US" sz="1400" dirty="0"/>
          </a:p>
        </p:txBody>
      </p:sp>
      <p:sp>
        <p:nvSpPr>
          <p:cNvPr id="8" name="Text 6"/>
          <p:cNvSpPr/>
          <p:nvPr/>
        </p:nvSpPr>
        <p:spPr>
          <a:xfrm>
            <a:off x="1508760" y="1920240"/>
            <a:ext cx="9784080" cy="603504"/>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MC5, MC8 and Family D need root-cause work on frequent short interruptions. MC2 and MC3 need attention to a smaller number of long events. The same intervention will not fix both.</a:t>
            </a:r>
            <a:endParaRPr lang="en-US" sz="1100" dirty="0"/>
          </a:p>
        </p:txBody>
      </p:sp>
      <p:sp>
        <p:nvSpPr>
          <p:cNvPr id="9" name="Shape 7"/>
          <p:cNvSpPr/>
          <p:nvPr/>
        </p:nvSpPr>
        <p:spPr>
          <a:xfrm>
            <a:off x="548640" y="2706624"/>
            <a:ext cx="11064240" cy="1133856"/>
          </a:xfrm>
          <a:prstGeom prst="rect">
            <a:avLst/>
          </a:prstGeom>
          <a:solidFill>
            <a:srgbClr val="F4F6F8"/>
          </a:solidFill>
          <a:ln/>
        </p:spPr>
      </p:sp>
      <p:sp>
        <p:nvSpPr>
          <p:cNvPr id="10" name="Shape 8"/>
          <p:cNvSpPr/>
          <p:nvPr/>
        </p:nvSpPr>
        <p:spPr>
          <a:xfrm>
            <a:off x="777240" y="2999232"/>
            <a:ext cx="548640" cy="548640"/>
          </a:xfrm>
          <a:prstGeom prst="ellipse">
            <a:avLst/>
          </a:prstGeom>
          <a:solidFill>
            <a:srgbClr val="B94A48"/>
          </a:solidFill>
          <a:ln/>
        </p:spPr>
      </p:sp>
      <p:sp>
        <p:nvSpPr>
          <p:cNvPr id="11" name="Text 9"/>
          <p:cNvSpPr/>
          <p:nvPr/>
        </p:nvSpPr>
        <p:spPr>
          <a:xfrm>
            <a:off x="777240" y="3072384"/>
            <a:ext cx="5486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508760" y="2843784"/>
            <a:ext cx="97840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Fix reject capture on MC8</a:t>
            </a:r>
            <a:endParaRPr lang="en-US" sz="1400" dirty="0"/>
          </a:p>
        </p:txBody>
      </p:sp>
      <p:sp>
        <p:nvSpPr>
          <p:cNvPr id="13" name="Text 11"/>
          <p:cNvSpPr/>
          <p:nvPr/>
        </p:nvSpPr>
        <p:spPr>
          <a:xfrm>
            <a:off x="1508760" y="3163824"/>
            <a:ext cx="9784080" cy="603504"/>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Waste is being weighed on MC8 but rejects are not being counted. Until that is corrected, MC8 cannot be quality-benchmarked and would misleadingly rank as the best line.</a:t>
            </a:r>
            <a:endParaRPr lang="en-US" sz="1100" dirty="0"/>
          </a:p>
        </p:txBody>
      </p:sp>
      <p:sp>
        <p:nvSpPr>
          <p:cNvPr id="14" name="Shape 12"/>
          <p:cNvSpPr/>
          <p:nvPr/>
        </p:nvSpPr>
        <p:spPr>
          <a:xfrm>
            <a:off x="548640" y="3950208"/>
            <a:ext cx="11064240" cy="1133856"/>
          </a:xfrm>
          <a:prstGeom prst="rect">
            <a:avLst/>
          </a:prstGeom>
          <a:solidFill>
            <a:srgbClr val="F4F6F8"/>
          </a:solidFill>
          <a:ln/>
        </p:spPr>
      </p:sp>
      <p:sp>
        <p:nvSpPr>
          <p:cNvPr id="15" name="Shape 13"/>
          <p:cNvSpPr/>
          <p:nvPr/>
        </p:nvSpPr>
        <p:spPr>
          <a:xfrm>
            <a:off x="777240" y="4242816"/>
            <a:ext cx="548640" cy="548640"/>
          </a:xfrm>
          <a:prstGeom prst="ellipse">
            <a:avLst/>
          </a:prstGeom>
          <a:solidFill>
            <a:srgbClr val="2C6E7F"/>
          </a:solidFill>
          <a:ln/>
        </p:spPr>
      </p:sp>
      <p:sp>
        <p:nvSpPr>
          <p:cNvPr id="16" name="Text 14"/>
          <p:cNvSpPr/>
          <p:nvPr/>
        </p:nvSpPr>
        <p:spPr>
          <a:xfrm>
            <a:off x="777240" y="4315968"/>
            <a:ext cx="5486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508760" y="4087368"/>
            <a:ext cx="97840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Establish whether MC1 and MC8 are under-scheduled or under-performing</a:t>
            </a:r>
            <a:endParaRPr lang="en-US" sz="1400" dirty="0"/>
          </a:p>
        </p:txBody>
      </p:sp>
      <p:sp>
        <p:nvSpPr>
          <p:cNvPr id="18" name="Text 16"/>
          <p:cNvSpPr/>
          <p:nvPr/>
        </p:nvSpPr>
        <p:spPr>
          <a:xfrm>
            <a:off x="1508760" y="4407408"/>
            <a:ext cx="9784080" cy="603504"/>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Both lose over 70% of tracked time and record the most shifts with no output. If this is demand-driven, it is a planning question, not a maintenance one.</a:t>
            </a:r>
            <a:endParaRPr lang="en-US" sz="1100" dirty="0"/>
          </a:p>
        </p:txBody>
      </p:sp>
      <p:sp>
        <p:nvSpPr>
          <p:cNvPr id="19" name="Shape 17"/>
          <p:cNvSpPr/>
          <p:nvPr/>
        </p:nvSpPr>
        <p:spPr>
          <a:xfrm>
            <a:off x="548640" y="5193792"/>
            <a:ext cx="11064240" cy="1133856"/>
          </a:xfrm>
          <a:prstGeom prst="rect">
            <a:avLst/>
          </a:prstGeom>
          <a:solidFill>
            <a:srgbClr val="F4F6F8"/>
          </a:solidFill>
          <a:ln/>
        </p:spPr>
      </p:sp>
      <p:sp>
        <p:nvSpPr>
          <p:cNvPr id="20" name="Shape 18"/>
          <p:cNvSpPr/>
          <p:nvPr/>
        </p:nvSpPr>
        <p:spPr>
          <a:xfrm>
            <a:off x="777240" y="5486400"/>
            <a:ext cx="548640" cy="548640"/>
          </a:xfrm>
          <a:prstGeom prst="ellipse">
            <a:avLst/>
          </a:prstGeom>
          <a:solidFill>
            <a:srgbClr val="3E7A4E"/>
          </a:solidFill>
          <a:ln/>
        </p:spPr>
      </p:sp>
      <p:sp>
        <p:nvSpPr>
          <p:cNvPr id="21" name="Text 19"/>
          <p:cNvSpPr/>
          <p:nvPr/>
        </p:nvSpPr>
        <p:spPr>
          <a:xfrm>
            <a:off x="777240" y="5559552"/>
            <a:ext cx="5486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508760" y="5330952"/>
            <a:ext cx="9784080" cy="320040"/>
          </a:xfrm>
          <a:prstGeom prst="rect">
            <a:avLst/>
          </a:prstGeom>
          <a:noFill/>
          <a:ln/>
        </p:spPr>
        <p:txBody>
          <a:bodyPr wrap="square" rtlCol="0" anchor="ctr"/>
          <a:lstStyle/>
          <a:p>
            <a:pPr indent="0" marL="0">
              <a:buNone/>
            </a:pPr>
            <a:r>
              <a:rPr lang="en-US" sz="1400" b="1" dirty="0">
                <a:solidFill>
                  <a:srgbClr val="12283F"/>
                </a:solidFill>
                <a:latin typeface="Calibri" pitchFamily="34" charset="0"/>
                <a:ea typeface="Calibri" pitchFamily="34" charset="-122"/>
                <a:cs typeface="Calibri" pitchFamily="34" charset="-120"/>
              </a:rPr>
              <a:t>Protect service levels for the ten key accounts</a:t>
            </a:r>
            <a:endParaRPr lang="en-US" sz="1400" dirty="0"/>
          </a:p>
        </p:txBody>
      </p:sp>
      <p:sp>
        <p:nvSpPr>
          <p:cNvPr id="23" name="Text 21"/>
          <p:cNvSpPr/>
          <p:nvPr/>
        </p:nvSpPr>
        <p:spPr>
          <a:xfrm>
            <a:off x="1508760" y="5650992"/>
            <a:ext cx="9784080" cy="603504"/>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Frapak, Cambrian and eight others rank highly on both volume and order frequency, and just 20 of 95 customers carry 81% of booked volume. Downtime affecting their lines carries the greatest commercial risk.</a:t>
            </a:r>
            <a:endParaRPr lang="en-US" sz="1100" dirty="0"/>
          </a:p>
        </p:txBody>
      </p:sp>
      <p:sp>
        <p:nvSpPr>
          <p:cNvPr id="24" name="Text 2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25" name="Text 23"/>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700" b="1" dirty="0">
                <a:solidFill>
                  <a:srgbClr val="12283F"/>
                </a:solidFill>
                <a:latin typeface="Calibri" pitchFamily="34" charset="0"/>
                <a:ea typeface="Calibri" pitchFamily="34" charset="-122"/>
                <a:cs typeface="Calibri" pitchFamily="34" charset="-120"/>
              </a:rPr>
              <a:t>Caveats &amp; Next Steps</a:t>
            </a:r>
            <a:endParaRPr lang="en-US" sz="27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50" dirty="0">
                <a:solidFill>
                  <a:srgbClr val="6B7280"/>
                </a:solidFill>
                <a:latin typeface="Calibri" pitchFamily="34" charset="0"/>
                <a:ea typeface="Calibri" pitchFamily="34" charset="-122"/>
                <a:cs typeface="Calibri" pitchFamily="34" charset="-120"/>
              </a:rPr>
              <a:t>What is solid, what is uncertain, and what comes next</a:t>
            </a:r>
            <a:endParaRPr lang="en-US" sz="1350" dirty="0"/>
          </a:p>
        </p:txBody>
      </p:sp>
      <p:sp>
        <p:nvSpPr>
          <p:cNvPr id="4" name="Text 2"/>
          <p:cNvSpPr/>
          <p:nvPr/>
        </p:nvSpPr>
        <p:spPr>
          <a:xfrm>
            <a:off x="548640" y="1444752"/>
            <a:ext cx="5349240" cy="292608"/>
          </a:xfrm>
          <a:prstGeom prst="rect">
            <a:avLst/>
          </a:prstGeom>
          <a:noFill/>
          <a:ln/>
        </p:spPr>
        <p:txBody>
          <a:bodyPr wrap="square" rtlCol="0" anchor="ctr"/>
          <a:lstStyle/>
          <a:p>
            <a:pPr indent="0" marL="0">
              <a:buNone/>
            </a:pPr>
            <a:r>
              <a:rPr lang="en-US" sz="1350" b="1" dirty="0">
                <a:solidFill>
                  <a:srgbClr val="3E7A4E"/>
                </a:solidFill>
                <a:latin typeface="Calibri" pitchFamily="34" charset="0"/>
                <a:ea typeface="Calibri" pitchFamily="34" charset="-122"/>
                <a:cs typeface="Calibri" pitchFamily="34" charset="-120"/>
              </a:rPr>
              <a:t>Methodological notes</a:t>
            </a:r>
            <a:endParaRPr lang="en-US" sz="1350" dirty="0"/>
          </a:p>
        </p:txBody>
      </p:sp>
      <p:sp>
        <p:nvSpPr>
          <p:cNvPr id="5" name="Text 3"/>
          <p:cNvSpPr/>
          <p:nvPr/>
        </p:nvSpPr>
        <p:spPr>
          <a:xfrm>
            <a:off x="548640" y="1773936"/>
            <a:ext cx="5349240" cy="2103120"/>
          </a:xfrm>
          <a:prstGeom prst="rect">
            <a:avLst/>
          </a:prstGeom>
          <a:noFill/>
          <a:ln/>
        </p:spPr>
        <p:txBody>
          <a:bodyPr wrap="square" rtlCol="0" anchor="t"/>
          <a:lstStyle/>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All OEE figures are volume-weighted; unweighted averages understate performance by roughly 16 points</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MC8 excluded from reject-rate comparison due to the capture gap</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MC4, MC6 and the three blank sub-assembly machines excluded throughout</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Family D 2nd Machine shown separately from the six primary lines, as a sub-assembly feeder</a:t>
            </a:r>
            <a:endParaRPr lang="en-US" sz="1150" dirty="0"/>
          </a:p>
        </p:txBody>
      </p:sp>
      <p:sp>
        <p:nvSpPr>
          <p:cNvPr id="6" name="Text 4"/>
          <p:cNvSpPr/>
          <p:nvPr/>
        </p:nvSpPr>
        <p:spPr>
          <a:xfrm>
            <a:off x="548640" y="3950208"/>
            <a:ext cx="5349240" cy="292608"/>
          </a:xfrm>
          <a:prstGeom prst="rect">
            <a:avLst/>
          </a:prstGeom>
          <a:noFill/>
          <a:ln/>
        </p:spPr>
        <p:txBody>
          <a:bodyPr wrap="square" rtlCol="0" anchor="ctr"/>
          <a:lstStyle/>
          <a:p>
            <a:pPr indent="0" marL="0">
              <a:buNone/>
            </a:pPr>
            <a:r>
              <a:rPr lang="en-US" sz="1350" b="1" dirty="0">
                <a:solidFill>
                  <a:srgbClr val="B94A48"/>
                </a:solidFill>
                <a:latin typeface="Calibri" pitchFamily="34" charset="0"/>
                <a:ea typeface="Calibri" pitchFamily="34" charset="-122"/>
                <a:cs typeface="Calibri" pitchFamily="34" charset="-120"/>
              </a:rPr>
              <a:t>Open questions</a:t>
            </a:r>
            <a:endParaRPr lang="en-US" sz="1350" dirty="0"/>
          </a:p>
        </p:txBody>
      </p:sp>
      <p:sp>
        <p:nvSpPr>
          <p:cNvPr id="7" name="Text 5"/>
          <p:cNvSpPr/>
          <p:nvPr/>
        </p:nvSpPr>
        <p:spPr>
          <a:xfrm>
            <a:off x="548640" y="4279392"/>
            <a:ext cx="5349240" cy="1920240"/>
          </a:xfrm>
          <a:prstGeom prst="rect">
            <a:avLst/>
          </a:prstGeom>
          <a:noFill/>
          <a:ln/>
        </p:spPr>
        <p:txBody>
          <a:bodyPr wrap="square" rtlCol="0" anchor="t"/>
          <a:lstStyle/>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Is the Waste % field calculated the same way across all lines? Some rows exceed 100%</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Are Mesh Machine, Syngenta and Family B Machine not instrumented, or is the data feed broken?</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Should MC4 and MC6 continue accruing stopped time after being discontinued?</a:t>
            </a:r>
            <a:endParaRPr lang="en-US" sz="1150" dirty="0"/>
          </a:p>
          <a:p>
            <a:pPr marL="342900" indent="-342900">
              <a:lnSpc>
                <a:spcPct val="128000"/>
              </a:lnSpc>
              <a:buSzPct val="100000"/>
              <a:buChar char="•"/>
            </a:pPr>
            <a:r>
              <a:rPr lang="en-US" sz="1150" dirty="0">
                <a:solidFill>
                  <a:srgbClr val="1A1A1A"/>
                </a:solidFill>
                <a:latin typeface="Calibri" pitchFamily="34" charset="0"/>
                <a:ea typeface="Calibri" pitchFamily="34" charset="-122"/>
                <a:cs typeface="Calibri" pitchFamily="34" charset="-120"/>
              </a:rPr>
              <a:t>Are the 659 zero-output shifts planned or unplanned?</a:t>
            </a:r>
            <a:endParaRPr lang="en-US" sz="1150" dirty="0"/>
          </a:p>
        </p:txBody>
      </p:sp>
      <p:sp>
        <p:nvSpPr>
          <p:cNvPr id="8" name="Shape 6"/>
          <p:cNvSpPr/>
          <p:nvPr/>
        </p:nvSpPr>
        <p:spPr>
          <a:xfrm>
            <a:off x="6263640" y="1444752"/>
            <a:ext cx="5349240" cy="4572000"/>
          </a:xfrm>
          <a:prstGeom prst="rect">
            <a:avLst/>
          </a:prstGeom>
          <a:solidFill>
            <a:srgbClr val="1B3A5A"/>
          </a:solidFill>
          <a:ln/>
        </p:spPr>
      </p:sp>
      <p:sp>
        <p:nvSpPr>
          <p:cNvPr id="9" name="Text 7"/>
          <p:cNvSpPr/>
          <p:nvPr/>
        </p:nvSpPr>
        <p:spPr>
          <a:xfrm>
            <a:off x="6583680" y="1664208"/>
            <a:ext cx="4754880" cy="320040"/>
          </a:xfrm>
          <a:prstGeom prst="rect">
            <a:avLst/>
          </a:prstGeom>
          <a:noFill/>
          <a:ln/>
        </p:spPr>
        <p:txBody>
          <a:bodyPr wrap="square" rtlCol="0" anchor="ctr"/>
          <a:lstStyle/>
          <a:p>
            <a:pPr indent="0" marL="0">
              <a:buNone/>
            </a:pPr>
            <a:r>
              <a:rPr lang="en-US" sz="1350" b="1" dirty="0">
                <a:solidFill>
                  <a:srgbClr val="F2A65A"/>
                </a:solidFill>
                <a:latin typeface="Calibri" pitchFamily="34" charset="0"/>
                <a:ea typeface="Calibri" pitchFamily="34" charset="-122"/>
                <a:cs typeface="Calibri" pitchFamily="34" charset="-120"/>
              </a:rPr>
              <a:t>Second half of the programme</a:t>
            </a:r>
            <a:endParaRPr lang="en-US" sz="1350" dirty="0"/>
          </a:p>
        </p:txBody>
      </p:sp>
      <p:sp>
        <p:nvSpPr>
          <p:cNvPr id="10" name="Text 8"/>
          <p:cNvSpPr/>
          <p:nvPr/>
        </p:nvSpPr>
        <p:spPr>
          <a:xfrm>
            <a:off x="6583680" y="2029968"/>
            <a:ext cx="4754880" cy="3840480"/>
          </a:xfrm>
          <a:prstGeom prst="rect">
            <a:avLst/>
          </a:prstGeom>
          <a:noFill/>
          <a:ln/>
        </p:spPr>
        <p:txBody>
          <a:bodyPr wrap="square" rtlCol="0" anchor="t"/>
          <a:lstStyle/>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Break stoppages down by cause code, if one exists, to move from pattern to root cause</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Link Assembly output back to Moulding through the shared product families</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Quantify the volume opportunity from reducing micro-stoppages on the worst-affected lines</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Build an on-time view against customer orders once the Ordered and Balance fields are clarified</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Move from description to quantified, costed recommendations</a:t>
            </a:r>
            <a:endParaRPr lang="en-US" sz="1200" dirty="0"/>
          </a:p>
        </p:txBody>
      </p:sp>
      <p:sp>
        <p:nvSpPr>
          <p:cNvPr id="11"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Assembly Division — Performance Analysis  |  Data Duo Mentoring, QUB</a:t>
            </a:r>
            <a:endParaRPr lang="en-US" sz="900" dirty="0"/>
          </a:p>
        </p:txBody>
      </p:sp>
      <p:sp>
        <p:nvSpPr>
          <p:cNvPr id="12" name="Text 10"/>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2026-07-30T19:59:57Z</dcterms:created>
  <dcterms:modified xsi:type="dcterms:W3CDTF">2026-07-30T19:59:57Z</dcterms:modified>
</cp:coreProperties>
</file>